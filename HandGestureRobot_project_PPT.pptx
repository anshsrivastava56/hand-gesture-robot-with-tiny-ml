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sldIdLst>
    <p:sldId id="256" r:id="rId2"/>
    <p:sldId id="257" r:id="rId3"/>
    <p:sldId id="262" r:id="rId4"/>
    <p:sldId id="263" r:id="rId5"/>
    <p:sldId id="258" r:id="rId6"/>
    <p:sldId id="259" r:id="rId7"/>
    <p:sldId id="260" r:id="rId8"/>
    <p:sldId id="261" r:id="rId9"/>
    <p:sldId id="268" r:id="rId10"/>
    <p:sldId id="264" r:id="rId11"/>
    <p:sldId id="265" r:id="rId12"/>
    <p:sldId id="266" r:id="rId13"/>
    <p:sldId id="267"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31"/>
  </p:normalViewPr>
  <p:slideViewPr>
    <p:cSldViewPr snapToGrid="0">
      <p:cViewPr varScale="1">
        <p:scale>
          <a:sx n="122" d="100"/>
          <a:sy n="122" d="100"/>
        </p:scale>
        <p:origin x="22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714D86-5F65-4986-8796-4C14B254026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8368EA9-82B2-48B5-9B29-F90D26C0A814}">
      <dgm:prSet/>
      <dgm:spPr/>
      <dgm:t>
        <a:bodyPr/>
        <a:lstStyle/>
        <a:p>
          <a:r>
            <a:rPr lang="en-US" b="0" i="0" baseline="0"/>
            <a:t>ESP32 (processing + ML) </a:t>
          </a:r>
          <a:endParaRPr lang="en-US"/>
        </a:p>
      </dgm:t>
    </dgm:pt>
    <dgm:pt modelId="{D53192FB-3563-4EEC-97E9-E69C69929679}" type="parTrans" cxnId="{23D002F9-5CF1-4AA4-9F54-A0CEAA64DC7C}">
      <dgm:prSet/>
      <dgm:spPr/>
      <dgm:t>
        <a:bodyPr/>
        <a:lstStyle/>
        <a:p>
          <a:endParaRPr lang="en-US"/>
        </a:p>
      </dgm:t>
    </dgm:pt>
    <dgm:pt modelId="{2EAFE17E-7B16-484B-8732-9617E8661BAE}" type="sibTrans" cxnId="{23D002F9-5CF1-4AA4-9F54-A0CEAA64DC7C}">
      <dgm:prSet/>
      <dgm:spPr/>
      <dgm:t>
        <a:bodyPr/>
        <a:lstStyle/>
        <a:p>
          <a:endParaRPr lang="en-US"/>
        </a:p>
      </dgm:t>
    </dgm:pt>
    <dgm:pt modelId="{C03BA915-97F1-4647-A404-B5288178D91E}">
      <dgm:prSet/>
      <dgm:spPr/>
      <dgm:t>
        <a:bodyPr/>
        <a:lstStyle/>
        <a:p>
          <a:r>
            <a:rPr lang="en-US" b="0" i="0" baseline="0"/>
            <a:t>MPU6050 (motion sensing) </a:t>
          </a:r>
          <a:endParaRPr lang="en-US"/>
        </a:p>
      </dgm:t>
    </dgm:pt>
    <dgm:pt modelId="{D2ACB8AF-394D-4600-8876-44A763CE83FD}" type="parTrans" cxnId="{D31BED9B-6250-4F7A-B958-D498A5614C59}">
      <dgm:prSet/>
      <dgm:spPr/>
      <dgm:t>
        <a:bodyPr/>
        <a:lstStyle/>
        <a:p>
          <a:endParaRPr lang="en-US"/>
        </a:p>
      </dgm:t>
    </dgm:pt>
    <dgm:pt modelId="{109B8D18-8623-43B3-BC81-E32C13C66E99}" type="sibTrans" cxnId="{D31BED9B-6250-4F7A-B958-D498A5614C59}">
      <dgm:prSet/>
      <dgm:spPr/>
      <dgm:t>
        <a:bodyPr/>
        <a:lstStyle/>
        <a:p>
          <a:endParaRPr lang="en-US"/>
        </a:p>
      </dgm:t>
    </dgm:pt>
    <dgm:pt modelId="{F6BF47A3-CF56-48AB-ABBF-69F3E433C7F0}">
      <dgm:prSet/>
      <dgm:spPr/>
      <dgm:t>
        <a:bodyPr/>
        <a:lstStyle/>
        <a:p>
          <a:r>
            <a:rPr lang="en-US" b="0" i="0" baseline="0"/>
            <a:t>NRF24L01 (wireless communication) </a:t>
          </a:r>
          <a:endParaRPr lang="en-US"/>
        </a:p>
      </dgm:t>
    </dgm:pt>
    <dgm:pt modelId="{E55AFC81-3AFC-4A04-99E2-7285F6C573EA}" type="parTrans" cxnId="{0BC3401D-BEE8-4EE2-9751-7CBE1E99B0F6}">
      <dgm:prSet/>
      <dgm:spPr/>
      <dgm:t>
        <a:bodyPr/>
        <a:lstStyle/>
        <a:p>
          <a:endParaRPr lang="en-US"/>
        </a:p>
      </dgm:t>
    </dgm:pt>
    <dgm:pt modelId="{57F05FDC-C918-4269-B3EE-A933B5EC8793}" type="sibTrans" cxnId="{0BC3401D-BEE8-4EE2-9751-7CBE1E99B0F6}">
      <dgm:prSet/>
      <dgm:spPr/>
      <dgm:t>
        <a:bodyPr/>
        <a:lstStyle/>
        <a:p>
          <a:endParaRPr lang="en-US"/>
        </a:p>
      </dgm:t>
    </dgm:pt>
    <dgm:pt modelId="{FC6C1895-C587-4BE1-9F4B-A63942491892}">
      <dgm:prSet/>
      <dgm:spPr/>
      <dgm:t>
        <a:bodyPr/>
        <a:lstStyle/>
        <a:p>
          <a:r>
            <a:rPr lang="en-US" b="0" i="0" baseline="0"/>
            <a:t>Arduino Nano (control unit) </a:t>
          </a:r>
          <a:endParaRPr lang="en-US"/>
        </a:p>
      </dgm:t>
    </dgm:pt>
    <dgm:pt modelId="{EB7E757E-FAA2-4B02-ACFF-AAF85B72D3AD}" type="parTrans" cxnId="{AECE9997-71C5-45CB-B723-01316D3DE2F6}">
      <dgm:prSet/>
      <dgm:spPr/>
      <dgm:t>
        <a:bodyPr/>
        <a:lstStyle/>
        <a:p>
          <a:endParaRPr lang="en-US"/>
        </a:p>
      </dgm:t>
    </dgm:pt>
    <dgm:pt modelId="{463FC2F1-61BC-4731-B24C-DEBFACA982EA}" type="sibTrans" cxnId="{AECE9997-71C5-45CB-B723-01316D3DE2F6}">
      <dgm:prSet/>
      <dgm:spPr/>
      <dgm:t>
        <a:bodyPr/>
        <a:lstStyle/>
        <a:p>
          <a:endParaRPr lang="en-US"/>
        </a:p>
      </dgm:t>
    </dgm:pt>
    <dgm:pt modelId="{1F519164-8C0E-40D5-91C1-56A23800AB6E}">
      <dgm:prSet/>
      <dgm:spPr/>
      <dgm:t>
        <a:bodyPr/>
        <a:lstStyle/>
        <a:p>
          <a:r>
            <a:rPr lang="en-US" b="0" i="0" baseline="0"/>
            <a:t>DRV8833 (motor driver) </a:t>
          </a:r>
          <a:endParaRPr lang="en-US"/>
        </a:p>
      </dgm:t>
    </dgm:pt>
    <dgm:pt modelId="{EC5D281D-50E5-4024-9190-A817D481A307}" type="parTrans" cxnId="{F99A0EF2-D64F-4C37-902F-6900283CAE14}">
      <dgm:prSet/>
      <dgm:spPr/>
      <dgm:t>
        <a:bodyPr/>
        <a:lstStyle/>
        <a:p>
          <a:endParaRPr lang="en-US"/>
        </a:p>
      </dgm:t>
    </dgm:pt>
    <dgm:pt modelId="{6DDA5524-8255-48CB-879C-29AD0F49AE00}" type="sibTrans" cxnId="{F99A0EF2-D64F-4C37-902F-6900283CAE14}">
      <dgm:prSet/>
      <dgm:spPr/>
      <dgm:t>
        <a:bodyPr/>
        <a:lstStyle/>
        <a:p>
          <a:endParaRPr lang="en-US"/>
        </a:p>
      </dgm:t>
    </dgm:pt>
    <dgm:pt modelId="{66C9ADE3-7036-46FC-8A7D-9C44DC5DC78B}">
      <dgm:prSet/>
      <dgm:spPr/>
      <dgm:t>
        <a:bodyPr/>
        <a:lstStyle/>
        <a:p>
          <a:r>
            <a:rPr lang="en-US" b="0" i="0" baseline="0"/>
            <a:t>N20 Motors + OLED</a:t>
          </a:r>
          <a:endParaRPr lang="en-US"/>
        </a:p>
      </dgm:t>
    </dgm:pt>
    <dgm:pt modelId="{3C9978B1-947E-485D-9FF6-16A1EF255D18}" type="parTrans" cxnId="{DBEFD48F-3B67-4613-A3DE-F055549FAA93}">
      <dgm:prSet/>
      <dgm:spPr/>
      <dgm:t>
        <a:bodyPr/>
        <a:lstStyle/>
        <a:p>
          <a:endParaRPr lang="en-US"/>
        </a:p>
      </dgm:t>
    </dgm:pt>
    <dgm:pt modelId="{08513031-F1FD-4588-8447-69B2E59482CE}" type="sibTrans" cxnId="{DBEFD48F-3B67-4613-A3DE-F055549FAA93}">
      <dgm:prSet/>
      <dgm:spPr/>
      <dgm:t>
        <a:bodyPr/>
        <a:lstStyle/>
        <a:p>
          <a:endParaRPr lang="en-US"/>
        </a:p>
      </dgm:t>
    </dgm:pt>
    <dgm:pt modelId="{B124D8BC-6F85-467D-BEF5-AEEFAB4AC367}" type="pres">
      <dgm:prSet presAssocID="{88714D86-5F65-4986-8796-4C14B254026D}" presName="root" presStyleCnt="0">
        <dgm:presLayoutVars>
          <dgm:dir/>
          <dgm:resizeHandles val="exact"/>
        </dgm:presLayoutVars>
      </dgm:prSet>
      <dgm:spPr/>
    </dgm:pt>
    <dgm:pt modelId="{403258C4-B09A-417F-A65B-669C67884D2E}" type="pres">
      <dgm:prSet presAssocID="{C8368EA9-82B2-48B5-9B29-F90D26C0A814}" presName="compNode" presStyleCnt="0"/>
      <dgm:spPr/>
    </dgm:pt>
    <dgm:pt modelId="{ACCB4023-47CE-4BB1-8E85-1B937E66562B}" type="pres">
      <dgm:prSet presAssocID="{C8368EA9-82B2-48B5-9B29-F90D26C0A814}" presName="bgRect" presStyleLbl="bgShp" presStyleIdx="0" presStyleCnt="6"/>
      <dgm:spPr/>
    </dgm:pt>
    <dgm:pt modelId="{2EE38C9C-033A-4517-8F8B-2BEFB72D2CAE}" type="pres">
      <dgm:prSet presAssocID="{C8368EA9-82B2-48B5-9B29-F90D26C0A814}"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ask"/>
        </a:ext>
      </dgm:extLst>
    </dgm:pt>
    <dgm:pt modelId="{BDFA67B4-C8F2-4135-9D3C-52C46AED90C5}" type="pres">
      <dgm:prSet presAssocID="{C8368EA9-82B2-48B5-9B29-F90D26C0A814}" presName="spaceRect" presStyleCnt="0"/>
      <dgm:spPr/>
    </dgm:pt>
    <dgm:pt modelId="{1FA0273D-F940-4B99-84B1-5183B2122E37}" type="pres">
      <dgm:prSet presAssocID="{C8368EA9-82B2-48B5-9B29-F90D26C0A814}" presName="parTx" presStyleLbl="revTx" presStyleIdx="0" presStyleCnt="6">
        <dgm:presLayoutVars>
          <dgm:chMax val="0"/>
          <dgm:chPref val="0"/>
        </dgm:presLayoutVars>
      </dgm:prSet>
      <dgm:spPr/>
    </dgm:pt>
    <dgm:pt modelId="{D308276A-ABA2-4D52-A075-71D967D9D9D6}" type="pres">
      <dgm:prSet presAssocID="{2EAFE17E-7B16-484B-8732-9617E8661BAE}" presName="sibTrans" presStyleCnt="0"/>
      <dgm:spPr/>
    </dgm:pt>
    <dgm:pt modelId="{0ACEB3B5-D1FA-4036-96AB-9546604AFCE5}" type="pres">
      <dgm:prSet presAssocID="{C03BA915-97F1-4647-A404-B5288178D91E}" presName="compNode" presStyleCnt="0"/>
      <dgm:spPr/>
    </dgm:pt>
    <dgm:pt modelId="{90D75757-2418-40B0-AE98-BB6B99E0AFD3}" type="pres">
      <dgm:prSet presAssocID="{C03BA915-97F1-4647-A404-B5288178D91E}" presName="bgRect" presStyleLbl="bgShp" presStyleIdx="1" presStyleCnt="6"/>
      <dgm:spPr/>
    </dgm:pt>
    <dgm:pt modelId="{DBCE2995-1A1B-4C18-ADEE-CC820D3DB91B}" type="pres">
      <dgm:prSet presAssocID="{C03BA915-97F1-4647-A404-B5288178D91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vron Arrows"/>
        </a:ext>
      </dgm:extLst>
    </dgm:pt>
    <dgm:pt modelId="{6D7639BB-43F2-45C9-A0EE-C912EF5F029E}" type="pres">
      <dgm:prSet presAssocID="{C03BA915-97F1-4647-A404-B5288178D91E}" presName="spaceRect" presStyleCnt="0"/>
      <dgm:spPr/>
    </dgm:pt>
    <dgm:pt modelId="{CD0D58DC-62E5-4148-93B0-1601348E4A92}" type="pres">
      <dgm:prSet presAssocID="{C03BA915-97F1-4647-A404-B5288178D91E}" presName="parTx" presStyleLbl="revTx" presStyleIdx="1" presStyleCnt="6">
        <dgm:presLayoutVars>
          <dgm:chMax val="0"/>
          <dgm:chPref val="0"/>
        </dgm:presLayoutVars>
      </dgm:prSet>
      <dgm:spPr/>
    </dgm:pt>
    <dgm:pt modelId="{C2C3A7D1-A52B-4F1B-B937-FA524EB5E0B7}" type="pres">
      <dgm:prSet presAssocID="{109B8D18-8623-43B3-BC81-E32C13C66E99}" presName="sibTrans" presStyleCnt="0"/>
      <dgm:spPr/>
    </dgm:pt>
    <dgm:pt modelId="{D17B4441-66F9-4608-881C-34AD4CE946A3}" type="pres">
      <dgm:prSet presAssocID="{F6BF47A3-CF56-48AB-ABBF-69F3E433C7F0}" presName="compNode" presStyleCnt="0"/>
      <dgm:spPr/>
    </dgm:pt>
    <dgm:pt modelId="{4178D744-3620-4C32-92CB-8D0AB05B1560}" type="pres">
      <dgm:prSet presAssocID="{F6BF47A3-CF56-48AB-ABBF-69F3E433C7F0}" presName="bgRect" presStyleLbl="bgShp" presStyleIdx="2" presStyleCnt="6"/>
      <dgm:spPr/>
    </dgm:pt>
    <dgm:pt modelId="{82071F20-3FAC-41B6-979A-00B884DAF8BD}" type="pres">
      <dgm:prSet presAssocID="{F6BF47A3-CF56-48AB-ABBF-69F3E433C7F0}"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ireless"/>
        </a:ext>
      </dgm:extLst>
    </dgm:pt>
    <dgm:pt modelId="{26FC6733-3722-4EE5-99A5-1A08CDB03A90}" type="pres">
      <dgm:prSet presAssocID="{F6BF47A3-CF56-48AB-ABBF-69F3E433C7F0}" presName="spaceRect" presStyleCnt="0"/>
      <dgm:spPr/>
    </dgm:pt>
    <dgm:pt modelId="{89F864EF-3C04-494A-8E26-FCC40E93DB9A}" type="pres">
      <dgm:prSet presAssocID="{F6BF47A3-CF56-48AB-ABBF-69F3E433C7F0}" presName="parTx" presStyleLbl="revTx" presStyleIdx="2" presStyleCnt="6">
        <dgm:presLayoutVars>
          <dgm:chMax val="0"/>
          <dgm:chPref val="0"/>
        </dgm:presLayoutVars>
      </dgm:prSet>
      <dgm:spPr/>
    </dgm:pt>
    <dgm:pt modelId="{367D74FF-09F8-4FDA-AE82-9B949360A87B}" type="pres">
      <dgm:prSet presAssocID="{57F05FDC-C918-4269-B3EE-A933B5EC8793}" presName="sibTrans" presStyleCnt="0"/>
      <dgm:spPr/>
    </dgm:pt>
    <dgm:pt modelId="{8F9BDFED-0A36-4F4A-85D8-E9B8FDCC7FBC}" type="pres">
      <dgm:prSet presAssocID="{FC6C1895-C587-4BE1-9F4B-A63942491892}" presName="compNode" presStyleCnt="0"/>
      <dgm:spPr/>
    </dgm:pt>
    <dgm:pt modelId="{B86F1EE7-195F-405D-BF37-D0B55FCDCF2B}" type="pres">
      <dgm:prSet presAssocID="{FC6C1895-C587-4BE1-9F4B-A63942491892}" presName="bgRect" presStyleLbl="bgShp" presStyleIdx="3" presStyleCnt="6"/>
      <dgm:spPr/>
    </dgm:pt>
    <dgm:pt modelId="{887C8237-C6DA-4B01-BD10-8B7C5FEFC312}" type="pres">
      <dgm:prSet presAssocID="{FC6C1895-C587-4BE1-9F4B-A63942491892}"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6BDA15A-C78D-4FC1-8A76-3EE27EB48DCD}" type="pres">
      <dgm:prSet presAssocID="{FC6C1895-C587-4BE1-9F4B-A63942491892}" presName="spaceRect" presStyleCnt="0"/>
      <dgm:spPr/>
    </dgm:pt>
    <dgm:pt modelId="{2552FB06-CAA6-4E35-A747-5F2C4B1415AD}" type="pres">
      <dgm:prSet presAssocID="{FC6C1895-C587-4BE1-9F4B-A63942491892}" presName="parTx" presStyleLbl="revTx" presStyleIdx="3" presStyleCnt="6">
        <dgm:presLayoutVars>
          <dgm:chMax val="0"/>
          <dgm:chPref val="0"/>
        </dgm:presLayoutVars>
      </dgm:prSet>
      <dgm:spPr/>
    </dgm:pt>
    <dgm:pt modelId="{7EF8DB43-FEB0-4D8E-998C-4485408A98EA}" type="pres">
      <dgm:prSet presAssocID="{463FC2F1-61BC-4731-B24C-DEBFACA982EA}" presName="sibTrans" presStyleCnt="0"/>
      <dgm:spPr/>
    </dgm:pt>
    <dgm:pt modelId="{04EC6D08-72F6-47BD-A046-446F85415945}" type="pres">
      <dgm:prSet presAssocID="{1F519164-8C0E-40D5-91C1-56A23800AB6E}" presName="compNode" presStyleCnt="0"/>
      <dgm:spPr/>
    </dgm:pt>
    <dgm:pt modelId="{75D281C6-E042-4A7C-A127-D803D879D6EB}" type="pres">
      <dgm:prSet presAssocID="{1F519164-8C0E-40D5-91C1-56A23800AB6E}" presName="bgRect" presStyleLbl="bgShp" presStyleIdx="4" presStyleCnt="6"/>
      <dgm:spPr/>
    </dgm:pt>
    <dgm:pt modelId="{27C13DB6-9EB5-4540-A7DB-0CD270468E06}" type="pres">
      <dgm:prSet presAssocID="{1F519164-8C0E-40D5-91C1-56A23800AB6E}"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lectric Car"/>
        </a:ext>
      </dgm:extLst>
    </dgm:pt>
    <dgm:pt modelId="{D79DBEBA-5196-4299-AF9E-4816779F6C6A}" type="pres">
      <dgm:prSet presAssocID="{1F519164-8C0E-40D5-91C1-56A23800AB6E}" presName="spaceRect" presStyleCnt="0"/>
      <dgm:spPr/>
    </dgm:pt>
    <dgm:pt modelId="{7198607A-6E35-4F82-A2DE-B6A5022F28CC}" type="pres">
      <dgm:prSet presAssocID="{1F519164-8C0E-40D5-91C1-56A23800AB6E}" presName="parTx" presStyleLbl="revTx" presStyleIdx="4" presStyleCnt="6">
        <dgm:presLayoutVars>
          <dgm:chMax val="0"/>
          <dgm:chPref val="0"/>
        </dgm:presLayoutVars>
      </dgm:prSet>
      <dgm:spPr/>
    </dgm:pt>
    <dgm:pt modelId="{76EE2D6D-50D8-4A83-A961-9F68479DDF1D}" type="pres">
      <dgm:prSet presAssocID="{6DDA5524-8255-48CB-879C-29AD0F49AE00}" presName="sibTrans" presStyleCnt="0"/>
      <dgm:spPr/>
    </dgm:pt>
    <dgm:pt modelId="{23D35070-C973-49F0-BB12-E4D9A2B71EEE}" type="pres">
      <dgm:prSet presAssocID="{66C9ADE3-7036-46FC-8A7D-9C44DC5DC78B}" presName="compNode" presStyleCnt="0"/>
      <dgm:spPr/>
    </dgm:pt>
    <dgm:pt modelId="{892C2177-6FD1-4E90-A4ED-F1DFF2280C1A}" type="pres">
      <dgm:prSet presAssocID="{66C9ADE3-7036-46FC-8A7D-9C44DC5DC78B}" presName="bgRect" presStyleLbl="bgShp" presStyleIdx="5" presStyleCnt="6"/>
      <dgm:spPr/>
    </dgm:pt>
    <dgm:pt modelId="{186FE7F3-2168-4943-8592-9FDA12201095}" type="pres">
      <dgm:prSet presAssocID="{66C9ADE3-7036-46FC-8A7D-9C44DC5DC78B}"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me"/>
        </a:ext>
      </dgm:extLst>
    </dgm:pt>
    <dgm:pt modelId="{B9148FFC-280A-4352-AF61-B023103AC731}" type="pres">
      <dgm:prSet presAssocID="{66C9ADE3-7036-46FC-8A7D-9C44DC5DC78B}" presName="spaceRect" presStyleCnt="0"/>
      <dgm:spPr/>
    </dgm:pt>
    <dgm:pt modelId="{F625639D-BCC6-4266-B6DC-6759E6BE0C45}" type="pres">
      <dgm:prSet presAssocID="{66C9ADE3-7036-46FC-8A7D-9C44DC5DC78B}" presName="parTx" presStyleLbl="revTx" presStyleIdx="5" presStyleCnt="6">
        <dgm:presLayoutVars>
          <dgm:chMax val="0"/>
          <dgm:chPref val="0"/>
        </dgm:presLayoutVars>
      </dgm:prSet>
      <dgm:spPr/>
    </dgm:pt>
  </dgm:ptLst>
  <dgm:cxnLst>
    <dgm:cxn modelId="{0BC3401D-BEE8-4EE2-9751-7CBE1E99B0F6}" srcId="{88714D86-5F65-4986-8796-4C14B254026D}" destId="{F6BF47A3-CF56-48AB-ABBF-69F3E433C7F0}" srcOrd="2" destOrd="0" parTransId="{E55AFC81-3AFC-4A04-99E2-7285F6C573EA}" sibTransId="{57F05FDC-C918-4269-B3EE-A933B5EC8793}"/>
    <dgm:cxn modelId="{D7C3E51D-96F5-4C0D-AFB0-8FB0C358866D}" type="presOf" srcId="{F6BF47A3-CF56-48AB-ABBF-69F3E433C7F0}" destId="{89F864EF-3C04-494A-8E26-FCC40E93DB9A}" srcOrd="0" destOrd="0" presId="urn:microsoft.com/office/officeart/2018/2/layout/IconVerticalSolidList"/>
    <dgm:cxn modelId="{3BF9682A-4A8B-4C02-A0A7-CBD4F7E7241B}" type="presOf" srcId="{1F519164-8C0E-40D5-91C1-56A23800AB6E}" destId="{7198607A-6E35-4F82-A2DE-B6A5022F28CC}" srcOrd="0" destOrd="0" presId="urn:microsoft.com/office/officeart/2018/2/layout/IconVerticalSolidList"/>
    <dgm:cxn modelId="{66F14B2C-07C8-49AB-8CE4-FDEAAABD3E5F}" type="presOf" srcId="{C03BA915-97F1-4647-A404-B5288178D91E}" destId="{CD0D58DC-62E5-4148-93B0-1601348E4A92}" srcOrd="0" destOrd="0" presId="urn:microsoft.com/office/officeart/2018/2/layout/IconVerticalSolidList"/>
    <dgm:cxn modelId="{79AB943D-91A2-43B4-8BEC-21951506A6F0}" type="presOf" srcId="{88714D86-5F65-4986-8796-4C14B254026D}" destId="{B124D8BC-6F85-467D-BEF5-AEEFAB4AC367}" srcOrd="0" destOrd="0" presId="urn:microsoft.com/office/officeart/2018/2/layout/IconVerticalSolidList"/>
    <dgm:cxn modelId="{1C279742-C82C-4952-9F70-086B358D6679}" type="presOf" srcId="{FC6C1895-C587-4BE1-9F4B-A63942491892}" destId="{2552FB06-CAA6-4E35-A747-5F2C4B1415AD}" srcOrd="0" destOrd="0" presId="urn:microsoft.com/office/officeart/2018/2/layout/IconVerticalSolidList"/>
    <dgm:cxn modelId="{DBEFD48F-3B67-4613-A3DE-F055549FAA93}" srcId="{88714D86-5F65-4986-8796-4C14B254026D}" destId="{66C9ADE3-7036-46FC-8A7D-9C44DC5DC78B}" srcOrd="5" destOrd="0" parTransId="{3C9978B1-947E-485D-9FF6-16A1EF255D18}" sibTransId="{08513031-F1FD-4588-8447-69B2E59482CE}"/>
    <dgm:cxn modelId="{AECE9997-71C5-45CB-B723-01316D3DE2F6}" srcId="{88714D86-5F65-4986-8796-4C14B254026D}" destId="{FC6C1895-C587-4BE1-9F4B-A63942491892}" srcOrd="3" destOrd="0" parTransId="{EB7E757E-FAA2-4B02-ACFF-AAF85B72D3AD}" sibTransId="{463FC2F1-61BC-4731-B24C-DEBFACA982EA}"/>
    <dgm:cxn modelId="{D31BED9B-6250-4F7A-B958-D498A5614C59}" srcId="{88714D86-5F65-4986-8796-4C14B254026D}" destId="{C03BA915-97F1-4647-A404-B5288178D91E}" srcOrd="1" destOrd="0" parTransId="{D2ACB8AF-394D-4600-8876-44A763CE83FD}" sibTransId="{109B8D18-8623-43B3-BC81-E32C13C66E99}"/>
    <dgm:cxn modelId="{9869119E-A2A9-438A-85BF-87C6DB506730}" type="presOf" srcId="{C8368EA9-82B2-48B5-9B29-F90D26C0A814}" destId="{1FA0273D-F940-4B99-84B1-5183B2122E37}" srcOrd="0" destOrd="0" presId="urn:microsoft.com/office/officeart/2018/2/layout/IconVerticalSolidList"/>
    <dgm:cxn modelId="{C1B287AA-98B0-47FE-89C6-88CE10CA06B3}" type="presOf" srcId="{66C9ADE3-7036-46FC-8A7D-9C44DC5DC78B}" destId="{F625639D-BCC6-4266-B6DC-6759E6BE0C45}" srcOrd="0" destOrd="0" presId="urn:microsoft.com/office/officeart/2018/2/layout/IconVerticalSolidList"/>
    <dgm:cxn modelId="{F99A0EF2-D64F-4C37-902F-6900283CAE14}" srcId="{88714D86-5F65-4986-8796-4C14B254026D}" destId="{1F519164-8C0E-40D5-91C1-56A23800AB6E}" srcOrd="4" destOrd="0" parTransId="{EC5D281D-50E5-4024-9190-A817D481A307}" sibTransId="{6DDA5524-8255-48CB-879C-29AD0F49AE00}"/>
    <dgm:cxn modelId="{23D002F9-5CF1-4AA4-9F54-A0CEAA64DC7C}" srcId="{88714D86-5F65-4986-8796-4C14B254026D}" destId="{C8368EA9-82B2-48B5-9B29-F90D26C0A814}" srcOrd="0" destOrd="0" parTransId="{D53192FB-3563-4EEC-97E9-E69C69929679}" sibTransId="{2EAFE17E-7B16-484B-8732-9617E8661BAE}"/>
    <dgm:cxn modelId="{CC8CC2CF-D1B3-4B5F-AA2C-BD92F4973B89}" type="presParOf" srcId="{B124D8BC-6F85-467D-BEF5-AEEFAB4AC367}" destId="{403258C4-B09A-417F-A65B-669C67884D2E}" srcOrd="0" destOrd="0" presId="urn:microsoft.com/office/officeart/2018/2/layout/IconVerticalSolidList"/>
    <dgm:cxn modelId="{475D25DE-3E04-4DA9-9A16-EF6250F34B2A}" type="presParOf" srcId="{403258C4-B09A-417F-A65B-669C67884D2E}" destId="{ACCB4023-47CE-4BB1-8E85-1B937E66562B}" srcOrd="0" destOrd="0" presId="urn:microsoft.com/office/officeart/2018/2/layout/IconVerticalSolidList"/>
    <dgm:cxn modelId="{E32CD8E4-F44E-402C-B5FF-70687DD0F64F}" type="presParOf" srcId="{403258C4-B09A-417F-A65B-669C67884D2E}" destId="{2EE38C9C-033A-4517-8F8B-2BEFB72D2CAE}" srcOrd="1" destOrd="0" presId="urn:microsoft.com/office/officeart/2018/2/layout/IconVerticalSolidList"/>
    <dgm:cxn modelId="{3A416A0E-8A47-4238-94AE-6E13FC520690}" type="presParOf" srcId="{403258C4-B09A-417F-A65B-669C67884D2E}" destId="{BDFA67B4-C8F2-4135-9D3C-52C46AED90C5}" srcOrd="2" destOrd="0" presId="urn:microsoft.com/office/officeart/2018/2/layout/IconVerticalSolidList"/>
    <dgm:cxn modelId="{98C02125-BDD8-4F75-965D-DE15BFFB016E}" type="presParOf" srcId="{403258C4-B09A-417F-A65B-669C67884D2E}" destId="{1FA0273D-F940-4B99-84B1-5183B2122E37}" srcOrd="3" destOrd="0" presId="urn:microsoft.com/office/officeart/2018/2/layout/IconVerticalSolidList"/>
    <dgm:cxn modelId="{66789719-88CC-46B6-A0E3-3580AE3180BD}" type="presParOf" srcId="{B124D8BC-6F85-467D-BEF5-AEEFAB4AC367}" destId="{D308276A-ABA2-4D52-A075-71D967D9D9D6}" srcOrd="1" destOrd="0" presId="urn:microsoft.com/office/officeart/2018/2/layout/IconVerticalSolidList"/>
    <dgm:cxn modelId="{1B96B6F6-52C9-4978-816C-C4779BADEE11}" type="presParOf" srcId="{B124D8BC-6F85-467D-BEF5-AEEFAB4AC367}" destId="{0ACEB3B5-D1FA-4036-96AB-9546604AFCE5}" srcOrd="2" destOrd="0" presId="urn:microsoft.com/office/officeart/2018/2/layout/IconVerticalSolidList"/>
    <dgm:cxn modelId="{F3297C84-B155-46DE-926D-226D128134CD}" type="presParOf" srcId="{0ACEB3B5-D1FA-4036-96AB-9546604AFCE5}" destId="{90D75757-2418-40B0-AE98-BB6B99E0AFD3}" srcOrd="0" destOrd="0" presId="urn:microsoft.com/office/officeart/2018/2/layout/IconVerticalSolidList"/>
    <dgm:cxn modelId="{716CA350-D9ED-4A23-A833-E1ED72D1D09E}" type="presParOf" srcId="{0ACEB3B5-D1FA-4036-96AB-9546604AFCE5}" destId="{DBCE2995-1A1B-4C18-ADEE-CC820D3DB91B}" srcOrd="1" destOrd="0" presId="urn:microsoft.com/office/officeart/2018/2/layout/IconVerticalSolidList"/>
    <dgm:cxn modelId="{434DF3EC-74A3-4D1E-9399-11B02AD5BB85}" type="presParOf" srcId="{0ACEB3B5-D1FA-4036-96AB-9546604AFCE5}" destId="{6D7639BB-43F2-45C9-A0EE-C912EF5F029E}" srcOrd="2" destOrd="0" presId="urn:microsoft.com/office/officeart/2018/2/layout/IconVerticalSolidList"/>
    <dgm:cxn modelId="{911BFF99-6ADB-4C5C-B05D-2F0193C2B4D9}" type="presParOf" srcId="{0ACEB3B5-D1FA-4036-96AB-9546604AFCE5}" destId="{CD0D58DC-62E5-4148-93B0-1601348E4A92}" srcOrd="3" destOrd="0" presId="urn:microsoft.com/office/officeart/2018/2/layout/IconVerticalSolidList"/>
    <dgm:cxn modelId="{3CB1C411-2D65-454F-A58E-5A6C262EC9F8}" type="presParOf" srcId="{B124D8BC-6F85-467D-BEF5-AEEFAB4AC367}" destId="{C2C3A7D1-A52B-4F1B-B937-FA524EB5E0B7}" srcOrd="3" destOrd="0" presId="urn:microsoft.com/office/officeart/2018/2/layout/IconVerticalSolidList"/>
    <dgm:cxn modelId="{424D2D41-3977-4B09-8B12-B07F8EB93EAB}" type="presParOf" srcId="{B124D8BC-6F85-467D-BEF5-AEEFAB4AC367}" destId="{D17B4441-66F9-4608-881C-34AD4CE946A3}" srcOrd="4" destOrd="0" presId="urn:microsoft.com/office/officeart/2018/2/layout/IconVerticalSolidList"/>
    <dgm:cxn modelId="{817F2D58-647A-4773-A3FA-FB94749A54EA}" type="presParOf" srcId="{D17B4441-66F9-4608-881C-34AD4CE946A3}" destId="{4178D744-3620-4C32-92CB-8D0AB05B1560}" srcOrd="0" destOrd="0" presId="urn:microsoft.com/office/officeart/2018/2/layout/IconVerticalSolidList"/>
    <dgm:cxn modelId="{1BFDAEAD-E973-4E9B-B493-DDD51372A2D9}" type="presParOf" srcId="{D17B4441-66F9-4608-881C-34AD4CE946A3}" destId="{82071F20-3FAC-41B6-979A-00B884DAF8BD}" srcOrd="1" destOrd="0" presId="urn:microsoft.com/office/officeart/2018/2/layout/IconVerticalSolidList"/>
    <dgm:cxn modelId="{A14D2029-9A06-4E4A-A783-BF5E6A9E8C3B}" type="presParOf" srcId="{D17B4441-66F9-4608-881C-34AD4CE946A3}" destId="{26FC6733-3722-4EE5-99A5-1A08CDB03A90}" srcOrd="2" destOrd="0" presId="urn:microsoft.com/office/officeart/2018/2/layout/IconVerticalSolidList"/>
    <dgm:cxn modelId="{E9359DC6-E147-41C3-B1ED-3BE2ED237981}" type="presParOf" srcId="{D17B4441-66F9-4608-881C-34AD4CE946A3}" destId="{89F864EF-3C04-494A-8E26-FCC40E93DB9A}" srcOrd="3" destOrd="0" presId="urn:microsoft.com/office/officeart/2018/2/layout/IconVerticalSolidList"/>
    <dgm:cxn modelId="{3ACDF252-97C9-4C4F-967C-F3EF716D16B1}" type="presParOf" srcId="{B124D8BC-6F85-467D-BEF5-AEEFAB4AC367}" destId="{367D74FF-09F8-4FDA-AE82-9B949360A87B}" srcOrd="5" destOrd="0" presId="urn:microsoft.com/office/officeart/2018/2/layout/IconVerticalSolidList"/>
    <dgm:cxn modelId="{60E0D52A-F900-4EAD-91F5-27E5FC280E0B}" type="presParOf" srcId="{B124D8BC-6F85-467D-BEF5-AEEFAB4AC367}" destId="{8F9BDFED-0A36-4F4A-85D8-E9B8FDCC7FBC}" srcOrd="6" destOrd="0" presId="urn:microsoft.com/office/officeart/2018/2/layout/IconVerticalSolidList"/>
    <dgm:cxn modelId="{9C093AC3-4CB7-4186-9054-4D852A88E235}" type="presParOf" srcId="{8F9BDFED-0A36-4F4A-85D8-E9B8FDCC7FBC}" destId="{B86F1EE7-195F-405D-BF37-D0B55FCDCF2B}" srcOrd="0" destOrd="0" presId="urn:microsoft.com/office/officeart/2018/2/layout/IconVerticalSolidList"/>
    <dgm:cxn modelId="{BB860CD5-E59D-4A67-A874-54CD72D36174}" type="presParOf" srcId="{8F9BDFED-0A36-4F4A-85D8-E9B8FDCC7FBC}" destId="{887C8237-C6DA-4B01-BD10-8B7C5FEFC312}" srcOrd="1" destOrd="0" presId="urn:microsoft.com/office/officeart/2018/2/layout/IconVerticalSolidList"/>
    <dgm:cxn modelId="{A8C3240E-4287-48EC-9E3D-F25ED724EFDB}" type="presParOf" srcId="{8F9BDFED-0A36-4F4A-85D8-E9B8FDCC7FBC}" destId="{66BDA15A-C78D-4FC1-8A76-3EE27EB48DCD}" srcOrd="2" destOrd="0" presId="urn:microsoft.com/office/officeart/2018/2/layout/IconVerticalSolidList"/>
    <dgm:cxn modelId="{D5508E02-8327-4560-BD11-13C38AB92A0D}" type="presParOf" srcId="{8F9BDFED-0A36-4F4A-85D8-E9B8FDCC7FBC}" destId="{2552FB06-CAA6-4E35-A747-5F2C4B1415AD}" srcOrd="3" destOrd="0" presId="urn:microsoft.com/office/officeart/2018/2/layout/IconVerticalSolidList"/>
    <dgm:cxn modelId="{50E930F2-4565-4618-BD2F-0365DBEE9C34}" type="presParOf" srcId="{B124D8BC-6F85-467D-BEF5-AEEFAB4AC367}" destId="{7EF8DB43-FEB0-4D8E-998C-4485408A98EA}" srcOrd="7" destOrd="0" presId="urn:microsoft.com/office/officeart/2018/2/layout/IconVerticalSolidList"/>
    <dgm:cxn modelId="{1FED951E-63CD-4689-A0DB-B83A98DD20DB}" type="presParOf" srcId="{B124D8BC-6F85-467D-BEF5-AEEFAB4AC367}" destId="{04EC6D08-72F6-47BD-A046-446F85415945}" srcOrd="8" destOrd="0" presId="urn:microsoft.com/office/officeart/2018/2/layout/IconVerticalSolidList"/>
    <dgm:cxn modelId="{87993889-3DEC-49CB-B356-B31264F0FCC6}" type="presParOf" srcId="{04EC6D08-72F6-47BD-A046-446F85415945}" destId="{75D281C6-E042-4A7C-A127-D803D879D6EB}" srcOrd="0" destOrd="0" presId="urn:microsoft.com/office/officeart/2018/2/layout/IconVerticalSolidList"/>
    <dgm:cxn modelId="{BF9C3738-0E78-4A76-8224-5A2523163835}" type="presParOf" srcId="{04EC6D08-72F6-47BD-A046-446F85415945}" destId="{27C13DB6-9EB5-4540-A7DB-0CD270468E06}" srcOrd="1" destOrd="0" presId="urn:microsoft.com/office/officeart/2018/2/layout/IconVerticalSolidList"/>
    <dgm:cxn modelId="{D15B7C4D-9056-45E5-BDBA-CA88F45BAB0C}" type="presParOf" srcId="{04EC6D08-72F6-47BD-A046-446F85415945}" destId="{D79DBEBA-5196-4299-AF9E-4816779F6C6A}" srcOrd="2" destOrd="0" presId="urn:microsoft.com/office/officeart/2018/2/layout/IconVerticalSolidList"/>
    <dgm:cxn modelId="{DF23D142-D277-4535-BA1D-8A2D485120A7}" type="presParOf" srcId="{04EC6D08-72F6-47BD-A046-446F85415945}" destId="{7198607A-6E35-4F82-A2DE-B6A5022F28CC}" srcOrd="3" destOrd="0" presId="urn:microsoft.com/office/officeart/2018/2/layout/IconVerticalSolidList"/>
    <dgm:cxn modelId="{4B33402E-1B19-4439-ABA7-3B33EC5ED372}" type="presParOf" srcId="{B124D8BC-6F85-467D-BEF5-AEEFAB4AC367}" destId="{76EE2D6D-50D8-4A83-A961-9F68479DDF1D}" srcOrd="9" destOrd="0" presId="urn:microsoft.com/office/officeart/2018/2/layout/IconVerticalSolidList"/>
    <dgm:cxn modelId="{A54687AA-AAB8-4206-848D-FD01F145D890}" type="presParOf" srcId="{B124D8BC-6F85-467D-BEF5-AEEFAB4AC367}" destId="{23D35070-C973-49F0-BB12-E4D9A2B71EEE}" srcOrd="10" destOrd="0" presId="urn:microsoft.com/office/officeart/2018/2/layout/IconVerticalSolidList"/>
    <dgm:cxn modelId="{BC1A15A1-151F-483C-BD39-A0E6DB2F41DF}" type="presParOf" srcId="{23D35070-C973-49F0-BB12-E4D9A2B71EEE}" destId="{892C2177-6FD1-4E90-A4ED-F1DFF2280C1A}" srcOrd="0" destOrd="0" presId="urn:microsoft.com/office/officeart/2018/2/layout/IconVerticalSolidList"/>
    <dgm:cxn modelId="{AF8C0B26-2527-425C-8DBA-6F63EDAB9EDE}" type="presParOf" srcId="{23D35070-C973-49F0-BB12-E4D9A2B71EEE}" destId="{186FE7F3-2168-4943-8592-9FDA12201095}" srcOrd="1" destOrd="0" presId="urn:microsoft.com/office/officeart/2018/2/layout/IconVerticalSolidList"/>
    <dgm:cxn modelId="{B6F1ACF0-92B6-4080-9661-456DF0F7A237}" type="presParOf" srcId="{23D35070-C973-49F0-BB12-E4D9A2B71EEE}" destId="{B9148FFC-280A-4352-AF61-B023103AC731}" srcOrd="2" destOrd="0" presId="urn:microsoft.com/office/officeart/2018/2/layout/IconVerticalSolidList"/>
    <dgm:cxn modelId="{D48E5394-276F-4E03-8AF8-879ACA07A769}" type="presParOf" srcId="{23D35070-C973-49F0-BB12-E4D9A2B71EEE}" destId="{F625639D-BCC6-4266-B6DC-6759E6BE0C4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CB4023-47CE-4BB1-8E85-1B937E66562B}">
      <dsp:nvSpPr>
        <dsp:cNvPr id="0" name=""/>
        <dsp:cNvSpPr/>
      </dsp:nvSpPr>
      <dsp:spPr>
        <a:xfrm>
          <a:off x="0" y="1932"/>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E38C9C-033A-4517-8F8B-2BEFB72D2CAE}">
      <dsp:nvSpPr>
        <dsp:cNvPr id="0" name=""/>
        <dsp:cNvSpPr/>
      </dsp:nvSpPr>
      <dsp:spPr>
        <a:xfrm>
          <a:off x="249066" y="187188"/>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A0273D-F940-4B99-84B1-5183B2122E37}">
      <dsp:nvSpPr>
        <dsp:cNvPr id="0" name=""/>
        <dsp:cNvSpPr/>
      </dsp:nvSpPr>
      <dsp:spPr>
        <a:xfrm>
          <a:off x="950981" y="1932"/>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ESP32 (processing + ML) </a:t>
          </a:r>
          <a:endParaRPr lang="en-US" sz="1900" kern="1200"/>
        </a:p>
      </dsp:txBody>
      <dsp:txXfrm>
        <a:off x="950981" y="1932"/>
        <a:ext cx="5928535" cy="823360"/>
      </dsp:txXfrm>
    </dsp:sp>
    <dsp:sp modelId="{90D75757-2418-40B0-AE98-BB6B99E0AFD3}">
      <dsp:nvSpPr>
        <dsp:cNvPr id="0" name=""/>
        <dsp:cNvSpPr/>
      </dsp:nvSpPr>
      <dsp:spPr>
        <a:xfrm>
          <a:off x="0" y="1031133"/>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CE2995-1A1B-4C18-ADEE-CC820D3DB91B}">
      <dsp:nvSpPr>
        <dsp:cNvPr id="0" name=""/>
        <dsp:cNvSpPr/>
      </dsp:nvSpPr>
      <dsp:spPr>
        <a:xfrm>
          <a:off x="249066" y="1216389"/>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D58DC-62E5-4148-93B0-1601348E4A92}">
      <dsp:nvSpPr>
        <dsp:cNvPr id="0" name=""/>
        <dsp:cNvSpPr/>
      </dsp:nvSpPr>
      <dsp:spPr>
        <a:xfrm>
          <a:off x="950981" y="1031133"/>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MPU6050 (motion sensing) </a:t>
          </a:r>
          <a:endParaRPr lang="en-US" sz="1900" kern="1200"/>
        </a:p>
      </dsp:txBody>
      <dsp:txXfrm>
        <a:off x="950981" y="1031133"/>
        <a:ext cx="5928535" cy="823360"/>
      </dsp:txXfrm>
    </dsp:sp>
    <dsp:sp modelId="{4178D744-3620-4C32-92CB-8D0AB05B1560}">
      <dsp:nvSpPr>
        <dsp:cNvPr id="0" name=""/>
        <dsp:cNvSpPr/>
      </dsp:nvSpPr>
      <dsp:spPr>
        <a:xfrm>
          <a:off x="0" y="2060334"/>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071F20-3FAC-41B6-979A-00B884DAF8BD}">
      <dsp:nvSpPr>
        <dsp:cNvPr id="0" name=""/>
        <dsp:cNvSpPr/>
      </dsp:nvSpPr>
      <dsp:spPr>
        <a:xfrm>
          <a:off x="249066" y="2245590"/>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F864EF-3C04-494A-8E26-FCC40E93DB9A}">
      <dsp:nvSpPr>
        <dsp:cNvPr id="0" name=""/>
        <dsp:cNvSpPr/>
      </dsp:nvSpPr>
      <dsp:spPr>
        <a:xfrm>
          <a:off x="950981" y="2060334"/>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NRF24L01 (wireless communication) </a:t>
          </a:r>
          <a:endParaRPr lang="en-US" sz="1900" kern="1200"/>
        </a:p>
      </dsp:txBody>
      <dsp:txXfrm>
        <a:off x="950981" y="2060334"/>
        <a:ext cx="5928535" cy="823360"/>
      </dsp:txXfrm>
    </dsp:sp>
    <dsp:sp modelId="{B86F1EE7-195F-405D-BF37-D0B55FCDCF2B}">
      <dsp:nvSpPr>
        <dsp:cNvPr id="0" name=""/>
        <dsp:cNvSpPr/>
      </dsp:nvSpPr>
      <dsp:spPr>
        <a:xfrm>
          <a:off x="0" y="3089535"/>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7C8237-C6DA-4B01-BD10-8B7C5FEFC312}">
      <dsp:nvSpPr>
        <dsp:cNvPr id="0" name=""/>
        <dsp:cNvSpPr/>
      </dsp:nvSpPr>
      <dsp:spPr>
        <a:xfrm>
          <a:off x="249066" y="3274791"/>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2FB06-CAA6-4E35-A747-5F2C4B1415AD}">
      <dsp:nvSpPr>
        <dsp:cNvPr id="0" name=""/>
        <dsp:cNvSpPr/>
      </dsp:nvSpPr>
      <dsp:spPr>
        <a:xfrm>
          <a:off x="950981" y="3089535"/>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Arduino Nano (control unit) </a:t>
          </a:r>
          <a:endParaRPr lang="en-US" sz="1900" kern="1200"/>
        </a:p>
      </dsp:txBody>
      <dsp:txXfrm>
        <a:off x="950981" y="3089535"/>
        <a:ext cx="5928535" cy="823360"/>
      </dsp:txXfrm>
    </dsp:sp>
    <dsp:sp modelId="{75D281C6-E042-4A7C-A127-D803D879D6EB}">
      <dsp:nvSpPr>
        <dsp:cNvPr id="0" name=""/>
        <dsp:cNvSpPr/>
      </dsp:nvSpPr>
      <dsp:spPr>
        <a:xfrm>
          <a:off x="0" y="4118736"/>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C13DB6-9EB5-4540-A7DB-0CD270468E06}">
      <dsp:nvSpPr>
        <dsp:cNvPr id="0" name=""/>
        <dsp:cNvSpPr/>
      </dsp:nvSpPr>
      <dsp:spPr>
        <a:xfrm>
          <a:off x="249066" y="4303992"/>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98607A-6E35-4F82-A2DE-B6A5022F28CC}">
      <dsp:nvSpPr>
        <dsp:cNvPr id="0" name=""/>
        <dsp:cNvSpPr/>
      </dsp:nvSpPr>
      <dsp:spPr>
        <a:xfrm>
          <a:off x="950981" y="4118736"/>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DRV8833 (motor driver) </a:t>
          </a:r>
          <a:endParaRPr lang="en-US" sz="1900" kern="1200"/>
        </a:p>
      </dsp:txBody>
      <dsp:txXfrm>
        <a:off x="950981" y="4118736"/>
        <a:ext cx="5928535" cy="823360"/>
      </dsp:txXfrm>
    </dsp:sp>
    <dsp:sp modelId="{892C2177-6FD1-4E90-A4ED-F1DFF2280C1A}">
      <dsp:nvSpPr>
        <dsp:cNvPr id="0" name=""/>
        <dsp:cNvSpPr/>
      </dsp:nvSpPr>
      <dsp:spPr>
        <a:xfrm>
          <a:off x="0" y="5147936"/>
          <a:ext cx="6879517" cy="8233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6FE7F3-2168-4943-8592-9FDA12201095}">
      <dsp:nvSpPr>
        <dsp:cNvPr id="0" name=""/>
        <dsp:cNvSpPr/>
      </dsp:nvSpPr>
      <dsp:spPr>
        <a:xfrm>
          <a:off x="249066" y="5333193"/>
          <a:ext cx="452848" cy="4528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25639D-BCC6-4266-B6DC-6759E6BE0C45}">
      <dsp:nvSpPr>
        <dsp:cNvPr id="0" name=""/>
        <dsp:cNvSpPr/>
      </dsp:nvSpPr>
      <dsp:spPr>
        <a:xfrm>
          <a:off x="950981" y="5147936"/>
          <a:ext cx="5928535" cy="82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9" tIns="87139" rIns="87139" bIns="87139" numCol="1" spcCol="1270" anchor="ctr" anchorCtr="0">
          <a:noAutofit/>
        </a:bodyPr>
        <a:lstStyle/>
        <a:p>
          <a:pPr marL="0" lvl="0" indent="0" algn="l" defTabSz="844550">
            <a:lnSpc>
              <a:spcPct val="90000"/>
            </a:lnSpc>
            <a:spcBef>
              <a:spcPct val="0"/>
            </a:spcBef>
            <a:spcAft>
              <a:spcPct val="35000"/>
            </a:spcAft>
            <a:buNone/>
          </a:pPr>
          <a:r>
            <a:rPr lang="en-US" sz="1900" b="0" i="0" kern="1200" baseline="0"/>
            <a:t>N20 Motors + OLED</a:t>
          </a:r>
          <a:endParaRPr lang="en-US" sz="1900" kern="1200"/>
        </a:p>
      </dsp:txBody>
      <dsp:txXfrm>
        <a:off x="950981" y="5147936"/>
        <a:ext cx="5928535" cy="82336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51122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697748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658237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26318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5/2/26</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708374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02590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48835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76664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84118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89435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5/2/26</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62615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5/2/26</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73249941"/>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87D111-0A9D-421B-84EB-FC5811C3A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3" name="Group 42">
            <a:extLst>
              <a:ext uri="{FF2B5EF4-FFF2-40B4-BE49-F238E27FC236}">
                <a16:creationId xmlns:a16="http://schemas.microsoft.com/office/drawing/2014/main" id="{CEC7A2BB-E03E-436B-ABA5-3EBC8FB406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5" name="Straight Connector 44">
              <a:extLst>
                <a:ext uri="{FF2B5EF4-FFF2-40B4-BE49-F238E27FC236}">
                  <a16:creationId xmlns:a16="http://schemas.microsoft.com/office/drawing/2014/main" id="{A6DC0849-A033-4B02-97FE-B41AD9A866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3ADCA7D-864A-49AD-B820-102F220EA7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957E947-1347-4EB3-89EB-DF85D94E26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B5FAB9-675C-4906-A39C-BCFD689294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C524971-DA3C-4B74-A99D-95CECD50C9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DBDB683-BC6A-4522-82A5-C7457201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41560A9-0B55-472F-8261-6951E27C52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D874A14-7926-47E8-947C-904C98B0E0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3E5598F-2EAC-49C0-B77B-95438A8EDD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C8993AC-196C-48AC-BCE3-3E71814D91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517F3CA-CF3E-4CD8-B001-2BDF09D767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5237402-E5C4-470B-955F-F3A8867765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315EAA5-98ED-4276-880E-4E3789CEAA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F94794-653E-45B6-811B-8081788A0E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82DE38F-FC85-4274-8C84-8E75162E6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4AF14C3-798E-4C02-A6B4-165D003D72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3D4C15-2F93-446B-AF2D-82072EC01A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09026E7-4EC6-47AE-A989-318A5CA6BA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6DEDA5A-47AA-4ED0-897C-C0B1873B6F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61821F-242E-4E40-B305-9048634C0F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0734AE8-EEDD-4DCB-9723-087DC2EC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6DB511B-1563-4336-AFBB-D561A7C0B4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5CEC4A9-4067-4D92-A28E-EE8152717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B783B25-A3A3-45C4-B04C-A116442505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31178CD-3DE0-4C42-811C-7BC881FBF6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26C508-8BE5-4ACF-A219-09B5D995B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B58DEC2-3409-477A-84B4-A5D297FB01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E3E226-6EDA-4FC4-B670-9590DD5CE7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BC874A8-EE7F-4F92-AAEA-40B18D939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23D647B-0C43-4C02-9BD2-A01859FD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6DE01B-DD35-4B52-A72E-57E60E2263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B10802-5C29-072C-3A47-F4F629E69313}"/>
              </a:ext>
            </a:extLst>
          </p:cNvPr>
          <p:cNvSpPr>
            <a:spLocks noGrp="1"/>
          </p:cNvSpPr>
          <p:nvPr>
            <p:ph type="ctrTitle"/>
          </p:nvPr>
        </p:nvSpPr>
        <p:spPr>
          <a:xfrm>
            <a:off x="684225" y="746840"/>
            <a:ext cx="5402454" cy="2510445"/>
          </a:xfrm>
        </p:spPr>
        <p:txBody>
          <a:bodyPr>
            <a:normAutofit/>
          </a:bodyPr>
          <a:lstStyle/>
          <a:p>
            <a:pPr>
              <a:lnSpc>
                <a:spcPct val="90000"/>
              </a:lnSpc>
            </a:pPr>
            <a:r>
              <a:rPr lang="en-IN">
                <a:latin typeface="Times New Roman" panose="02020603050405020304" pitchFamily="18" charset="0"/>
                <a:cs typeface="Times New Roman" panose="02020603050405020304" pitchFamily="18" charset="0"/>
              </a:rPr>
              <a:t>TinyML-Based Hand Gesture Control Robot</a:t>
            </a:r>
            <a:endParaRPr lang="en-US">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E217C8-D509-3CF2-41B8-640A11DD5AF4}"/>
              </a:ext>
            </a:extLst>
          </p:cNvPr>
          <p:cNvSpPr>
            <a:spLocks noGrp="1"/>
          </p:cNvSpPr>
          <p:nvPr>
            <p:ph type="subTitle" idx="1"/>
          </p:nvPr>
        </p:nvSpPr>
        <p:spPr>
          <a:xfrm>
            <a:off x="684225" y="3425899"/>
            <a:ext cx="5185297" cy="2309737"/>
          </a:xfrm>
        </p:spPr>
        <p:txBody>
          <a:bodyPr>
            <a:normAutofit/>
          </a:bodyPr>
          <a:lstStyle/>
          <a:p>
            <a:r>
              <a:rPr lang="en-IN">
                <a:latin typeface="Times New Roman" panose="02020603050405020304" pitchFamily="18" charset="0"/>
                <a:cs typeface="Times New Roman" panose="02020603050405020304" pitchFamily="18" charset="0"/>
              </a:rPr>
              <a:t>Abde Ali (RA2311005010054) </a:t>
            </a:r>
          </a:p>
          <a:p>
            <a:r>
              <a:rPr lang="en-IN">
                <a:latin typeface="Times New Roman" panose="02020603050405020304" pitchFamily="18" charset="0"/>
                <a:cs typeface="Times New Roman" panose="02020603050405020304" pitchFamily="18" charset="0"/>
              </a:rPr>
              <a:t>Ansh Srivastava (RA2311005010056)</a:t>
            </a:r>
          </a:p>
          <a:p>
            <a:r>
              <a:rPr lang="en-IN">
                <a:latin typeface="Times New Roman" panose="02020603050405020304" pitchFamily="18" charset="0"/>
                <a:cs typeface="Times New Roman" panose="02020603050405020304" pitchFamily="18" charset="0"/>
              </a:rPr>
              <a:t> Lathief Hussain (RA2311005010058) </a:t>
            </a:r>
            <a:endParaRPr lang="en-US" dirty="0">
              <a:latin typeface="Times New Roman" panose="02020603050405020304" pitchFamily="18" charset="0"/>
              <a:cs typeface="Times New Roman" panose="02020603050405020304" pitchFamily="18" charset="0"/>
            </a:endParaRPr>
          </a:p>
        </p:txBody>
      </p:sp>
      <p:sp>
        <p:nvSpPr>
          <p:cNvPr id="44" name="Right Triangle 43">
            <a:extLst>
              <a:ext uri="{FF2B5EF4-FFF2-40B4-BE49-F238E27FC236}">
                <a16:creationId xmlns:a16="http://schemas.microsoft.com/office/drawing/2014/main" id="{218D3B53-4071-48E8-9CB1-4566DAFA0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80C36658-B1AF-C446-5ED7-97B23001F7C2}"/>
              </a:ext>
            </a:extLst>
          </p:cNvPr>
          <p:cNvPicPr>
            <a:picLocks noChangeAspect="1"/>
          </p:cNvPicPr>
          <p:nvPr/>
        </p:nvPicPr>
        <p:blipFill>
          <a:blip r:embed="rId2"/>
          <a:srcRect l="15447" r="17618"/>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Tree>
    <p:extLst>
      <p:ext uri="{BB962C8B-B14F-4D97-AF65-F5344CB8AC3E}">
        <p14:creationId xmlns:p14="http://schemas.microsoft.com/office/powerpoint/2010/main" val="2253293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F983-420C-D705-39DC-B008A0DFD60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 </a:t>
            </a:r>
          </a:p>
        </p:txBody>
      </p:sp>
      <p:sp>
        <p:nvSpPr>
          <p:cNvPr id="3" name="Content Placeholder 2">
            <a:extLst>
              <a:ext uri="{FF2B5EF4-FFF2-40B4-BE49-F238E27FC236}">
                <a16:creationId xmlns:a16="http://schemas.microsoft.com/office/drawing/2014/main" id="{E2D49871-AF9A-D182-FDE5-A8F263674353}"/>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This project presents a </a:t>
            </a:r>
            <a:r>
              <a:rPr lang="en-IN" sz="2400" dirty="0" err="1">
                <a:latin typeface="Times New Roman" panose="02020603050405020304" pitchFamily="18" charset="0"/>
                <a:cs typeface="Times New Roman" panose="02020603050405020304" pitchFamily="18" charset="0"/>
              </a:rPr>
              <a:t>TinyML</a:t>
            </a:r>
            <a:r>
              <a:rPr lang="en-IN" sz="2400" dirty="0">
                <a:latin typeface="Times New Roman" panose="02020603050405020304" pitchFamily="18" charset="0"/>
                <a:cs typeface="Times New Roman" panose="02020603050405020304" pitchFamily="18" charset="0"/>
              </a:rPr>
              <a:t>-based hand gesture-controlled robot that enables wireless control using natural hand movements. An MPU-6050 sensor and ESP32 capture and classify gestures (Forward, Backward, Left, Right, Still) using an on-device neural network trained on Edge Impulse. The recognized commands are sent via NRF24L01 to an Arduino Nano, which controls the robot’s motors. An OLED display provides visual feedback. The system achieves high accuracy (97.8%) and demonstrates an efficient, low-cost solution for real-time human-robot interaction.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0723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4D431671-5191-4947-8899-E90505A704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877D2E98-ED65-4121-9DA5-6DBB831D0F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94A307-5B5D-4E42-95B3-064D5093AD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B3B32C-3BDA-4D41-9802-681B0599FD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BDBFD6-7C61-4520-8203-BAB1986C15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4ABA4D7-9904-42C4-B0CD-B1CE2E0D37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B63F0D6-8747-4126-9359-B730EB21B7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91CD660-F5B2-49AC-9EFC-CE94B843B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4BEB7EB-8E7F-4A4B-8581-73CE2003F2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04FB70E-6820-4456-872A-937F520606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3598DD6-9887-4CF7-BAFE-F96E0324EB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503E64-565F-465B-A25C-042C5706C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40EE7B-5CA1-4DCB-8652-6E4D2147B0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85077BE-700D-4C44-AA4D-7CF4E8FD71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B8B3FEB-D353-443D-A148-3915606516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1FF5FBB-3BD8-46EB-BDF9-081B29A444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C2E11FD-78A4-4F5C-A419-F0237DCAD2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F708EBE-3154-4FF4-8E8F-88A0762080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7A99B5C-EB03-4D56-8DFE-B006D7081B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FCBAFF0-9FB4-4160-B9BE-CCBE1D8B8C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26953D7-154A-49A4-B2E1-D94D365EC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36E3E12-5D96-48DB-8320-6294287740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059482-79BA-4E80-80A2-36FD8408D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4EF88B3-C210-433D-B20D-FE41B4D5F9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3665D3E-61E7-4EDF-A208-56449D765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74CF3B0-C9C3-4683-94A3-DC0AE1E745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BE90EF9-6DF5-47F4-A069-9F613C814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844EBDE-5A9F-4E9F-8A55-57FB9E9797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491FC45-82C4-40CD-8D0C-0A2F86E8A1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AD0FE3-6144-4171-943E-0E65D08E80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7BA4499-5E6A-4998-A0F4-614E65552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FE7A6F-A7F0-4406-809F-E23FCB201E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9C1F5E0-96CB-059E-1DAF-0F6075D895C3}"/>
              </a:ext>
            </a:extLst>
          </p:cNvPr>
          <p:cNvSpPr>
            <a:spLocks noGrp="1"/>
          </p:cNvSpPr>
          <p:nvPr>
            <p:ph type="title"/>
          </p:nvPr>
        </p:nvSpPr>
        <p:spPr>
          <a:xfrm>
            <a:off x="6088653" y="725951"/>
            <a:ext cx="4927425" cy="1938525"/>
          </a:xfrm>
        </p:spPr>
        <p:txBody>
          <a:bodyPr>
            <a:normAutofit/>
          </a:bodyPr>
          <a:lstStyle/>
          <a:p>
            <a:r>
              <a:rPr lang="en-US" dirty="0">
                <a:latin typeface="Times New Roman" panose="02020603050405020304" pitchFamily="18" charset="0"/>
                <a:cs typeface="Times New Roman" panose="02020603050405020304" pitchFamily="18" charset="0"/>
              </a:rPr>
              <a:t>Motivation :</a:t>
            </a:r>
          </a:p>
        </p:txBody>
      </p:sp>
      <p:pic>
        <p:nvPicPr>
          <p:cNvPr id="6" name="Picture 5" descr="Claw building a card house">
            <a:extLst>
              <a:ext uri="{FF2B5EF4-FFF2-40B4-BE49-F238E27FC236}">
                <a16:creationId xmlns:a16="http://schemas.microsoft.com/office/drawing/2014/main" id="{63BBBAC8-C7DE-F022-8165-2B1D671953A8}"/>
              </a:ext>
            </a:extLst>
          </p:cNvPr>
          <p:cNvPicPr>
            <a:picLocks noChangeAspect="1"/>
          </p:cNvPicPr>
          <p:nvPr/>
        </p:nvPicPr>
        <p:blipFill>
          <a:blip r:embed="rId2"/>
          <a:srcRect r="-2" b="12094"/>
          <a:stretch>
            <a:fillRect/>
          </a:stretch>
        </p:blipFill>
        <p:spPr>
          <a:xfrm>
            <a:off x="1" y="10"/>
            <a:ext cx="5854890" cy="6857990"/>
          </a:xfrm>
          <a:custGeom>
            <a:avLst/>
            <a:gdLst/>
            <a:ahLst/>
            <a:cxnLst/>
            <a:rect l="l" t="t" r="r" b="b"/>
            <a:pathLst>
              <a:path w="6036633" h="6858000">
                <a:moveTo>
                  <a:pt x="0" y="0"/>
                </a:moveTo>
                <a:lnTo>
                  <a:pt x="5782584" y="0"/>
                </a:lnTo>
                <a:lnTo>
                  <a:pt x="5847735" y="280891"/>
                </a:lnTo>
                <a:cubicBezTo>
                  <a:pt x="6512611" y="3337011"/>
                  <a:pt x="5215360" y="3533975"/>
                  <a:pt x="5130974" y="6590095"/>
                </a:cubicBezTo>
                <a:lnTo>
                  <a:pt x="5127340" y="6858000"/>
                </a:lnTo>
                <a:lnTo>
                  <a:pt x="0" y="6858000"/>
                </a:lnTo>
                <a:close/>
              </a:path>
            </a:pathLst>
          </a:custGeom>
        </p:spPr>
      </p:pic>
      <p:sp>
        <p:nvSpPr>
          <p:cNvPr id="45" name="Right Triangle 44">
            <a:extLst>
              <a:ext uri="{FF2B5EF4-FFF2-40B4-BE49-F238E27FC236}">
                <a16:creationId xmlns:a16="http://schemas.microsoft.com/office/drawing/2014/main" id="{BEAC0A80-07D3-49CB-87C3-BC34F219D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7339" y="-29262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ectangle 1">
            <a:extLst>
              <a:ext uri="{FF2B5EF4-FFF2-40B4-BE49-F238E27FC236}">
                <a16:creationId xmlns:a16="http://schemas.microsoft.com/office/drawing/2014/main" id="{CE809578-D7FB-5E8A-2E8B-B9127D0C79DB}"/>
              </a:ext>
            </a:extLst>
          </p:cNvPr>
          <p:cNvSpPr>
            <a:spLocks noGrp="1" noChangeArrowheads="1"/>
          </p:cNvSpPr>
          <p:nvPr>
            <p:ph idx="1"/>
          </p:nvPr>
        </p:nvSpPr>
        <p:spPr bwMode="auto">
          <a:xfrm>
            <a:off x="6088653" y="2886116"/>
            <a:ext cx="4927425" cy="32459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6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0" i="0" u="none" strike="noStrike" cap="none" normalizeH="0" baseline="0">
                <a:ln>
                  <a:noFill/>
                </a:ln>
                <a:effectLst/>
                <a:latin typeface="Times New Roman" panose="02020603050405020304" pitchFamily="18" charset="0"/>
                <a:cs typeface="Times New Roman" panose="02020603050405020304" pitchFamily="18" charset="0"/>
              </a:rPr>
              <a:t>Traditional gesture systems using cameras are costly and power-consuming </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0" i="0" u="none" strike="noStrike" cap="none" normalizeH="0" baseline="0">
                <a:ln>
                  <a:noFill/>
                </a:ln>
                <a:effectLst/>
                <a:latin typeface="Times New Roman" panose="02020603050405020304" pitchFamily="18" charset="0"/>
                <a:cs typeface="Times New Roman" panose="02020603050405020304" pitchFamily="18" charset="0"/>
              </a:rPr>
              <a:t>IMU-based systems are compact, efficient, and reliable </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0" i="0" u="none" strike="noStrike" cap="none" normalizeH="0" baseline="0" err="1">
                <a:ln>
                  <a:noFill/>
                </a:ln>
                <a:effectLst/>
                <a:latin typeface="Times New Roman" panose="02020603050405020304" pitchFamily="18" charset="0"/>
                <a:cs typeface="Times New Roman" panose="02020603050405020304" pitchFamily="18" charset="0"/>
              </a:rPr>
              <a:t>TinyML</a:t>
            </a:r>
            <a:r>
              <a:rPr kumimoji="0" lang="en-US" altLang="en-US" sz="1600" b="0" i="0" u="none" strike="noStrike" cap="none" normalizeH="0" baseline="0">
                <a:ln>
                  <a:noFill/>
                </a:ln>
                <a:effectLst/>
                <a:latin typeface="Times New Roman" panose="02020603050405020304" pitchFamily="18" charset="0"/>
                <a:cs typeface="Times New Roman" panose="02020603050405020304" pitchFamily="18" charset="0"/>
              </a:rPr>
              <a:t> enables machine learning on low-power microcontrollers </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0" i="0" u="none" strike="noStrike" cap="none" normalizeH="0" baseline="0">
                <a:ln>
                  <a:noFill/>
                </a:ln>
                <a:effectLst/>
                <a:latin typeface="Times New Roman" panose="02020603050405020304" pitchFamily="18" charset="0"/>
                <a:cs typeface="Times New Roman" panose="02020603050405020304" pitchFamily="18" charset="0"/>
              </a:rPr>
              <a:t>Gesture control provides natural and easy human-robot interaction </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0" i="0" u="none" strike="noStrike" cap="none" normalizeH="0" baseline="0">
                <a:ln>
                  <a:noFill/>
                </a:ln>
                <a:effectLst/>
                <a:latin typeface="Times New Roman" panose="02020603050405020304" pitchFamily="18" charset="0"/>
                <a:cs typeface="Times New Roman" panose="02020603050405020304" pitchFamily="18" charset="0"/>
              </a:rPr>
              <a:t>This project aims to create a low-cost, intelligent, and user-friendly robotic system</a:t>
            </a:r>
          </a:p>
        </p:txBody>
      </p:sp>
    </p:spTree>
    <p:extLst>
      <p:ext uri="{BB962C8B-B14F-4D97-AF65-F5344CB8AC3E}">
        <p14:creationId xmlns:p14="http://schemas.microsoft.com/office/powerpoint/2010/main" val="59714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useBgFill="1">
        <p:nvSpPr>
          <p:cNvPr id="91" name="Freeform: Shape 53">
            <a:extLst>
              <a:ext uri="{FF2B5EF4-FFF2-40B4-BE49-F238E27FC236}">
                <a16:creationId xmlns:a16="http://schemas.microsoft.com/office/drawing/2014/main" id="{CFDF70F4-97B6-40D8-B1FA-9580DBD23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2244" y="224448"/>
            <a:ext cx="6857996" cy="6409096"/>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6" name="Group 55">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7" name="Straight Connector 56">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9" name="Right Triangle 88">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D2990A2-CB69-2C99-ABFF-FDA5CC911A1F}"/>
              </a:ext>
            </a:extLst>
          </p:cNvPr>
          <p:cNvSpPr>
            <a:spLocks noGrp="1"/>
          </p:cNvSpPr>
          <p:nvPr>
            <p:ph type="title"/>
          </p:nvPr>
        </p:nvSpPr>
        <p:spPr>
          <a:xfrm>
            <a:off x="691079" y="725951"/>
            <a:ext cx="5408027" cy="1442463"/>
          </a:xfrm>
        </p:spPr>
        <p:txBody>
          <a:bodyPr>
            <a:normAutofit/>
          </a:bodyPr>
          <a:lstStyle/>
          <a:p>
            <a:r>
              <a:rPr lang="en-IN">
                <a:latin typeface="Times New Roman" panose="02020603050405020304" pitchFamily="18" charset="0"/>
                <a:cs typeface="Times New Roman" panose="02020603050405020304" pitchFamily="18" charset="0"/>
              </a:rPr>
              <a:t>Problem Statement :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834E19-743C-9610-81E4-31D3B647FE49}"/>
              </a:ext>
            </a:extLst>
          </p:cNvPr>
          <p:cNvSpPr>
            <a:spLocks noGrp="1"/>
          </p:cNvSpPr>
          <p:nvPr>
            <p:ph idx="1"/>
          </p:nvPr>
        </p:nvSpPr>
        <p:spPr>
          <a:xfrm>
            <a:off x="691079" y="2340131"/>
            <a:ext cx="4424633" cy="3791918"/>
          </a:xfrm>
        </p:spPr>
        <p:txBody>
          <a:bodyPr>
            <a:normAutofit/>
          </a:bodyPr>
          <a:lstStyle/>
          <a:p>
            <a:r>
              <a:rPr lang="en-IN">
                <a:latin typeface="Times New Roman" panose="02020603050405020304" pitchFamily="18" charset="0"/>
                <a:cs typeface="Times New Roman" panose="02020603050405020304" pitchFamily="18" charset="0"/>
              </a:rPr>
              <a:t>Traditional robot control methods such as joysticks and remote controllers are often difficult to use and limit natural interaction. These systems rely on physical interfaces, reducing ease of use and flexibility. As a result, there is a growing need for a more intuitive, contactless, and user-friendly method to control robotic systems, especially in areas like assistive technology and smart automation.</a:t>
            </a:r>
          </a:p>
          <a:p>
            <a:endParaRPr lang="en-US"/>
          </a:p>
        </p:txBody>
      </p:sp>
      <p:pic>
        <p:nvPicPr>
          <p:cNvPr id="5" name="Picture 4" descr="Toy robots shaking hands">
            <a:extLst>
              <a:ext uri="{FF2B5EF4-FFF2-40B4-BE49-F238E27FC236}">
                <a16:creationId xmlns:a16="http://schemas.microsoft.com/office/drawing/2014/main" id="{CF9FCB86-77FB-072A-9BC3-B6162C81E197}"/>
              </a:ext>
            </a:extLst>
          </p:cNvPr>
          <p:cNvPicPr>
            <a:picLocks noChangeAspect="1"/>
          </p:cNvPicPr>
          <p:nvPr/>
        </p:nvPicPr>
        <p:blipFill>
          <a:blip r:embed="rId2"/>
          <a:srcRect l="29097" r="13735" b="1"/>
          <a:stretch>
            <a:fillRect/>
          </a:stretch>
        </p:blipFill>
        <p:spPr>
          <a:xfrm>
            <a:off x="7087094" y="872183"/>
            <a:ext cx="4401655" cy="5120120"/>
          </a:xfrm>
          <a:prstGeom prst="rect">
            <a:avLst/>
          </a:prstGeom>
        </p:spPr>
      </p:pic>
    </p:spTree>
    <p:extLst>
      <p:ext uri="{BB962C8B-B14F-4D97-AF65-F5344CB8AC3E}">
        <p14:creationId xmlns:p14="http://schemas.microsoft.com/office/powerpoint/2010/main" val="216671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4B74A58D-C788-4F75-B5D1-921E78FF29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C27BC05A-659D-4294-B1DB-0412C6A1E3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2A8233F-A451-46B4-BED4-27DD64582D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8A4F6C4-FDB0-4115-ABAE-9A5A8CED03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1C99737-F794-494E-8C0C-76B75CC9D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8F02DA6-DBA7-462E-82AD-42EEDC2808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DE71D6B-949D-4D9E-9EEA-56A8D498A5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4EFD95D-F204-41B7-9C56-DBF1155EC8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53D25B4-D3D4-4B6C-A740-E8FD4409B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FB8D2F-FC2D-463E-A588-218B5ED1F9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21BB6B9-EAEA-43A1-9449-A10294E4F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0C62509-6F9A-4A66-AE78-EF71FE7D45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F0D677E-8866-4D5C-91F9-90001EBE8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6C1C222-FB70-4063-9BF6-25E5394546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48C3B78-3424-4DF2-AE25-BC08956E2B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89169EC-7A8F-439B-BDD2-669CDE6D91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625A96E-5FA1-467F-8929-E9F3A4D423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4167E38-35D8-4680-8EF9-67045C8AA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E9F9CA-B0D2-4D5B-BA3E-D9F5817AF6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1909765-556E-4AA4-8CA8-34ABA30EB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D9E7D9C-D2A0-4C04-AC8C-CC796A5757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513C351-6AD8-4CC8-85E6-1382AA235C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190FC97-7BCE-42C2-9768-14559A44A0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32B857D-BE14-48CD-8F4D-0E882D328E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F2E92CD-7175-484E-B557-CF29951C2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B179EA7-0CFA-4FE9-BEF1-462C0ED396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6676B7-1322-4E27-9218-6D5E8B0EC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026F347-76EB-45F8-9B81-653E64A004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1E93AAC-F0A9-4B35-A413-A322DB9FC9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145F376-7C0E-4F7E-816B-48D485A8CD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5F4E9A3-2521-4838-9AA2-A5D5020D46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D0F8335-C6C7-4994-9ECB-54F0EB8C50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Right Triangle 46">
            <a:extLst>
              <a:ext uri="{FF2B5EF4-FFF2-40B4-BE49-F238E27FC236}">
                <a16:creationId xmlns:a16="http://schemas.microsoft.com/office/drawing/2014/main" id="{17D11638-D7E0-4D85-B1A6-AF57358C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89" y="15123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98EDF1B-522D-042E-91BC-DE0D10407934}"/>
              </a:ext>
            </a:extLst>
          </p:cNvPr>
          <p:cNvSpPr>
            <a:spLocks noGrp="1"/>
          </p:cNvSpPr>
          <p:nvPr>
            <p:ph type="title"/>
          </p:nvPr>
        </p:nvSpPr>
        <p:spPr>
          <a:xfrm>
            <a:off x="684223" y="721946"/>
            <a:ext cx="10611627" cy="1990906"/>
          </a:xfrm>
        </p:spPr>
        <p:txBody>
          <a:bodyPr vert="horz" lIns="91440" tIns="45720" rIns="91440" bIns="45720" rtlCol="0" anchor="ctr">
            <a:normAutofit/>
          </a:bodyPr>
          <a:lstStyle/>
          <a:p>
            <a:r>
              <a:rPr lang="en-US" dirty="0"/>
              <a:t>Block Diagram</a:t>
            </a:r>
          </a:p>
        </p:txBody>
      </p:sp>
      <p:sp>
        <p:nvSpPr>
          <p:cNvPr id="7" name="TextBox 6">
            <a:extLst>
              <a:ext uri="{FF2B5EF4-FFF2-40B4-BE49-F238E27FC236}">
                <a16:creationId xmlns:a16="http://schemas.microsoft.com/office/drawing/2014/main" id="{DEE7224B-28FB-8561-F4F5-24FE59CF7204}"/>
              </a:ext>
            </a:extLst>
          </p:cNvPr>
          <p:cNvSpPr txBox="1"/>
          <p:nvPr/>
        </p:nvSpPr>
        <p:spPr>
          <a:xfrm>
            <a:off x="6577738" y="2893475"/>
            <a:ext cx="4425911" cy="3242577"/>
          </a:xfrm>
          <a:prstGeom prst="rect">
            <a:avLst/>
          </a:prstGeom>
        </p:spPr>
        <p:txBody>
          <a:bodyPr vert="horz" lIns="91440" tIns="45720" rIns="91440" bIns="45720" rtlCol="0" anchor="ctr">
            <a:normAutofit/>
          </a:bodyPr>
          <a:lstStyle/>
          <a:p>
            <a:pPr indent="-228600" algn="just">
              <a:spcAft>
                <a:spcPts val="600"/>
              </a:spcAft>
              <a:buClr>
                <a:schemeClr val="tx2">
                  <a:lumMod val="50000"/>
                  <a:lumOff val="50000"/>
                </a:schemeClr>
              </a:buClr>
              <a:buSzPct val="75000"/>
              <a:buFont typeface="Wingdings" panose="05000000000000000000" pitchFamily="2" charset="2"/>
              <a:buChar char="§"/>
            </a:pPr>
            <a:r>
              <a:rPr lang="en-US" dirty="0">
                <a:solidFill>
                  <a:schemeClr val="tx2"/>
                </a:solidFill>
                <a:latin typeface="Times New Roman" panose="02020603050405020304" pitchFamily="18" charset="0"/>
                <a:cs typeface="Times New Roman" panose="02020603050405020304" pitchFamily="18" charset="0"/>
              </a:rPr>
              <a:t>The system has two parts: transmitter and receiver. The MPU-6050 sensor sends motion data to the ESP32, which uses a </a:t>
            </a:r>
            <a:r>
              <a:rPr lang="en-US" dirty="0" err="1">
                <a:solidFill>
                  <a:schemeClr val="tx2"/>
                </a:solidFill>
                <a:latin typeface="Times New Roman" panose="02020603050405020304" pitchFamily="18" charset="0"/>
                <a:cs typeface="Times New Roman" panose="02020603050405020304" pitchFamily="18" charset="0"/>
              </a:rPr>
              <a:t>TinyML</a:t>
            </a:r>
            <a:r>
              <a:rPr lang="en-US" dirty="0">
                <a:solidFill>
                  <a:schemeClr val="tx2"/>
                </a:solidFill>
                <a:latin typeface="Times New Roman" panose="02020603050405020304" pitchFamily="18" charset="0"/>
                <a:cs typeface="Times New Roman" panose="02020603050405020304" pitchFamily="18" charset="0"/>
              </a:rPr>
              <a:t> model to recognize hand gestures. The detected gesture is sent wirelessly using the NRF24L01 module. On the receiver side, an Arduino Nano receives the signal and controls the motors through a driver to move the robot. At the same time, an OLED display shows visual feedback.</a:t>
            </a:r>
          </a:p>
        </p:txBody>
      </p:sp>
      <p:pic>
        <p:nvPicPr>
          <p:cNvPr id="5" name="Content Placeholder 4">
            <a:extLst>
              <a:ext uri="{FF2B5EF4-FFF2-40B4-BE49-F238E27FC236}">
                <a16:creationId xmlns:a16="http://schemas.microsoft.com/office/drawing/2014/main" id="{BD546FFD-25CC-254D-520D-89EEE5AFE9AB}"/>
              </a:ext>
            </a:extLst>
          </p:cNvPr>
          <p:cNvPicPr>
            <a:picLocks noGrp="1" noChangeAspect="1"/>
          </p:cNvPicPr>
          <p:nvPr>
            <p:ph idx="1"/>
          </p:nvPr>
        </p:nvPicPr>
        <p:blipFill>
          <a:blip r:embed="rId2">
            <a:alphaModFix/>
          </a:blip>
          <a:stretch>
            <a:fillRect/>
          </a:stretch>
        </p:blipFill>
        <p:spPr>
          <a:xfrm>
            <a:off x="930875" y="2884572"/>
            <a:ext cx="5080440" cy="3251482"/>
          </a:xfrm>
          <a:prstGeom prst="rect">
            <a:avLst/>
          </a:prstGeom>
        </p:spPr>
      </p:pic>
    </p:spTree>
    <p:extLst>
      <p:ext uri="{BB962C8B-B14F-4D97-AF65-F5344CB8AC3E}">
        <p14:creationId xmlns:p14="http://schemas.microsoft.com/office/powerpoint/2010/main" val="1108095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14870-0214-C4EA-28D0-42A7D0BF734D}"/>
              </a:ext>
            </a:extLst>
          </p:cNvPr>
          <p:cNvSpPr>
            <a:spLocks noGrp="1"/>
          </p:cNvSpPr>
          <p:nvPr>
            <p:ph type="title"/>
          </p:nvPr>
        </p:nvSpPr>
        <p:spPr>
          <a:xfrm>
            <a:off x="691079" y="725951"/>
            <a:ext cx="10325000" cy="905901"/>
          </a:xfrm>
        </p:spPr>
        <p:txBody>
          <a:bodyPr/>
          <a:lstStyle/>
          <a:p>
            <a:r>
              <a:rPr lang="en-US" dirty="0">
                <a:latin typeface="Times New Roman" panose="02020603050405020304" pitchFamily="18" charset="0"/>
                <a:cs typeface="Times New Roman" panose="02020603050405020304" pitchFamily="18" charset="0"/>
              </a:rPr>
              <a:t>Circuit Diagram : </a:t>
            </a:r>
          </a:p>
        </p:txBody>
      </p:sp>
      <p:sp>
        <p:nvSpPr>
          <p:cNvPr id="3" name="Content Placeholder 2">
            <a:extLst>
              <a:ext uri="{FF2B5EF4-FFF2-40B4-BE49-F238E27FC236}">
                <a16:creationId xmlns:a16="http://schemas.microsoft.com/office/drawing/2014/main" id="{3DB9EEE7-6F3B-83CB-4271-3E9D409D4223}"/>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Transmitter circuit : </a:t>
            </a:r>
          </a:p>
        </p:txBody>
      </p:sp>
      <p:pic>
        <p:nvPicPr>
          <p:cNvPr id="5" name="Picture 4">
            <a:extLst>
              <a:ext uri="{FF2B5EF4-FFF2-40B4-BE49-F238E27FC236}">
                <a16:creationId xmlns:a16="http://schemas.microsoft.com/office/drawing/2014/main" id="{13E51911-5BB5-D3DF-02C2-8D102454A7A5}"/>
              </a:ext>
            </a:extLst>
          </p:cNvPr>
          <p:cNvPicPr>
            <a:picLocks noChangeAspect="1"/>
          </p:cNvPicPr>
          <p:nvPr/>
        </p:nvPicPr>
        <p:blipFill>
          <a:blip r:embed="rId2"/>
          <a:stretch>
            <a:fillRect/>
          </a:stretch>
        </p:blipFill>
        <p:spPr>
          <a:xfrm>
            <a:off x="6317156" y="2340131"/>
            <a:ext cx="5183765" cy="3564437"/>
          </a:xfrm>
          <a:prstGeom prst="rect">
            <a:avLst/>
          </a:prstGeom>
        </p:spPr>
      </p:pic>
      <p:sp>
        <p:nvSpPr>
          <p:cNvPr id="7" name="TextBox 6">
            <a:extLst>
              <a:ext uri="{FF2B5EF4-FFF2-40B4-BE49-F238E27FC236}">
                <a16:creationId xmlns:a16="http://schemas.microsoft.com/office/drawing/2014/main" id="{55CCF474-266C-2B2C-8D9A-1609B6711383}"/>
              </a:ext>
            </a:extLst>
          </p:cNvPr>
          <p:cNvSpPr txBox="1"/>
          <p:nvPr/>
        </p:nvSpPr>
        <p:spPr>
          <a:xfrm>
            <a:off x="829341" y="2775097"/>
            <a:ext cx="4900476" cy="2031325"/>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transmitter uses an ESP32 connected to an MPU-6050 sensor via I2C to capture motion data. The ESP32 processes this data using a </a:t>
            </a:r>
            <a:r>
              <a:rPr lang="en-IN" dirty="0" err="1">
                <a:latin typeface="Times New Roman" panose="02020603050405020304" pitchFamily="18" charset="0"/>
                <a:cs typeface="Times New Roman" panose="02020603050405020304" pitchFamily="18" charset="0"/>
              </a:rPr>
              <a:t>TinyML</a:t>
            </a:r>
            <a:r>
              <a:rPr lang="en-IN" dirty="0">
                <a:latin typeface="Times New Roman" panose="02020603050405020304" pitchFamily="18" charset="0"/>
                <a:cs typeface="Times New Roman" panose="02020603050405020304" pitchFamily="18" charset="0"/>
              </a:rPr>
              <a:t> model to detect gestures. The detected gesture is sent wirelessly through the NRF24L01 module using SPI. The system runs on 3.3V and transmits the gesture as a simple signal to the receiver</a:t>
            </a:r>
            <a:r>
              <a:rPr lang="en-IN" dirty="0"/>
              <a:t>.</a:t>
            </a:r>
            <a:endParaRPr lang="en-US" dirty="0"/>
          </a:p>
        </p:txBody>
      </p:sp>
    </p:spTree>
    <p:extLst>
      <p:ext uri="{BB962C8B-B14F-4D97-AF65-F5344CB8AC3E}">
        <p14:creationId xmlns:p14="http://schemas.microsoft.com/office/powerpoint/2010/main" val="3527313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4B7A7-CA96-CA2C-C470-94C3CCE1ED91}"/>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Reciever</a:t>
            </a:r>
            <a:r>
              <a:rPr lang="en-US" dirty="0">
                <a:latin typeface="Times New Roman" panose="02020603050405020304" pitchFamily="18" charset="0"/>
                <a:cs typeface="Times New Roman" panose="02020603050405020304" pitchFamily="18" charset="0"/>
              </a:rPr>
              <a:t> Circuit : </a:t>
            </a:r>
          </a:p>
        </p:txBody>
      </p:sp>
      <p:pic>
        <p:nvPicPr>
          <p:cNvPr id="5" name="Content Placeholder 4">
            <a:extLst>
              <a:ext uri="{FF2B5EF4-FFF2-40B4-BE49-F238E27FC236}">
                <a16:creationId xmlns:a16="http://schemas.microsoft.com/office/drawing/2014/main" id="{53E6D819-323E-B332-FDA0-526E552189DA}"/>
              </a:ext>
            </a:extLst>
          </p:cNvPr>
          <p:cNvPicPr>
            <a:picLocks noGrp="1" noChangeAspect="1"/>
          </p:cNvPicPr>
          <p:nvPr>
            <p:ph idx="1"/>
          </p:nvPr>
        </p:nvPicPr>
        <p:blipFill>
          <a:blip r:embed="rId2"/>
          <a:stretch>
            <a:fillRect/>
          </a:stretch>
        </p:blipFill>
        <p:spPr>
          <a:xfrm>
            <a:off x="5853579" y="2168414"/>
            <a:ext cx="5788699" cy="3563938"/>
          </a:xfrm>
          <a:prstGeom prst="rect">
            <a:avLst/>
          </a:prstGeom>
        </p:spPr>
      </p:pic>
      <p:sp>
        <p:nvSpPr>
          <p:cNvPr id="7" name="TextBox 6">
            <a:extLst>
              <a:ext uri="{FF2B5EF4-FFF2-40B4-BE49-F238E27FC236}">
                <a16:creationId xmlns:a16="http://schemas.microsoft.com/office/drawing/2014/main" id="{2486F105-0346-4077-4664-EDEFFBFF37B2}"/>
              </a:ext>
            </a:extLst>
          </p:cNvPr>
          <p:cNvSpPr txBox="1"/>
          <p:nvPr/>
        </p:nvSpPr>
        <p:spPr>
          <a:xfrm>
            <a:off x="265814" y="2381693"/>
            <a:ext cx="5401339" cy="2031325"/>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receiver uses an Arduino Nano connected to an NRF24L01 module to receive gesture signals. Based on the received gesture, the Arduino controls the motors through the DRV8833 driver to move the robot. An OLED display shows visual feedback for each action. The system is powered by a 9V battery with a voltage regulator.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588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4D45BF-E397-40C0-AFE3-A4149E60E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35F4CD44-7930-4EB8-9A74-8D2F9E636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6F1268F0-44F7-4AC9-A3E6-9527C22F30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80B23C-29A4-4D11-8671-EE46FECE7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C2CF28E-44F6-4983-9729-A705B8709B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B11666B-80E2-4F7D-9613-17A65CBC1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BFAC7C-C1E8-4988-864D-3B05D3006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2EE5A4C-9245-46EB-B145-8FDFBE6E1A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BFEDEDB-B657-4E62-9962-28BF541220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5EFAA5-5243-4FE8-819B-80D4995BB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92E633-809E-4E07-965A-F2F9EDCF7F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0DE1690-3F94-4C79-9357-6653BEEF1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529D5DF-1A9E-4690-B016-03FB1E72DC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F8E2D2-E88C-4F73-A660-D2B76298C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37BF3BB-FE7A-410E-AA57-73485A775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0EC5EB5-F6E1-441C-AB44-799A5DF1B7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6F199F-9E76-4C7E-9DF6-20EE550DFE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91704E7-976B-4FE0-9381-8EB7818E7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603A9-61D4-4172-AF77-7A7CE408A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73C1AA7-2357-41A1-A057-FA2D44DAD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0024205-8F58-4C8D-BE50-35E40091B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37BEEA-3398-4C1B-AB48-E7173325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5EE29AB-4E85-418B-A6D3-3E7B401855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ADE2BEB-6A23-4DFC-9A4E-E44F3CA9F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ECE8D73-51C6-4818-8BD9-9202BBA083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EA7AA7F-CD9D-4820-B463-7B9CFEC8E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1618CA6-513B-458C-89C1-1FE15F1F43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5BACA43-902B-4444-95CB-5165D5483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8A07376-1103-43DD-A6D6-D7BAF6F00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FCEA8A1-BC0E-4221-B9E5-3D3C7BA261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55D27E5-DFE1-4EE8-B982-0A3922359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D07B27-85E5-4F3B-B432-CDBDC0F6E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B78179E-DE7D-4A30-9BDC-05D7AE217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07E3C0EF-2D2A-42BA-B4E2-76E2B1FC5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4143" y="31539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77C866D-BF97-0D6E-9A7F-AA649F92869D}"/>
              </a:ext>
            </a:extLst>
          </p:cNvPr>
          <p:cNvSpPr>
            <a:spLocks noGrp="1"/>
          </p:cNvSpPr>
          <p:nvPr>
            <p:ph type="title"/>
          </p:nvPr>
        </p:nvSpPr>
        <p:spPr>
          <a:xfrm>
            <a:off x="691079" y="725950"/>
            <a:ext cx="3428812" cy="5436630"/>
          </a:xfrm>
        </p:spPr>
        <p:txBody>
          <a:bodyPr anchor="ctr">
            <a:normAutofit/>
          </a:bodyPr>
          <a:lstStyle/>
          <a:p>
            <a:r>
              <a:rPr lang="en-US" dirty="0">
                <a:latin typeface="Times New Roman" panose="02020603050405020304" pitchFamily="18" charset="0"/>
                <a:cs typeface="Times New Roman" panose="02020603050405020304" pitchFamily="18" charset="0"/>
              </a:rPr>
              <a:t>Hardware Components : </a:t>
            </a:r>
          </a:p>
        </p:txBody>
      </p:sp>
      <p:graphicFrame>
        <p:nvGraphicFramePr>
          <p:cNvPr id="6" name="Rectangle 1">
            <a:extLst>
              <a:ext uri="{FF2B5EF4-FFF2-40B4-BE49-F238E27FC236}">
                <a16:creationId xmlns:a16="http://schemas.microsoft.com/office/drawing/2014/main" id="{5CA4FE06-4228-F174-EF5B-ABF66DE54135}"/>
              </a:ext>
            </a:extLst>
          </p:cNvPr>
          <p:cNvGraphicFramePr>
            <a:graphicFrameLocks noGrp="1"/>
          </p:cNvGraphicFramePr>
          <p:nvPr>
            <p:ph idx="1"/>
            <p:extLst>
              <p:ext uri="{D42A27DB-BD31-4B8C-83A1-F6EECF244321}">
                <p14:modId xmlns:p14="http://schemas.microsoft.com/office/powerpoint/2010/main" val="597316658"/>
              </p:ext>
            </p:extLst>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4671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4A62-3EB0-E52C-75D3-7A2B16EB3328}"/>
              </a:ext>
            </a:extLst>
          </p:cNvPr>
          <p:cNvSpPr>
            <a:spLocks noGrp="1"/>
          </p:cNvSpPr>
          <p:nvPr>
            <p:ph type="title"/>
          </p:nvPr>
        </p:nvSpPr>
        <p:spPr>
          <a:xfrm>
            <a:off x="691079" y="725952"/>
            <a:ext cx="10325000" cy="779292"/>
          </a:xfrm>
        </p:spPr>
        <p:txBody>
          <a:bodyPr/>
          <a:lstStyle/>
          <a:p>
            <a:r>
              <a:rPr lang="en-US" dirty="0">
                <a:latin typeface="Times New Roman" panose="02020603050405020304" pitchFamily="18" charset="0"/>
                <a:cs typeface="Times New Roman" panose="02020603050405020304" pitchFamily="18" charset="0"/>
              </a:rPr>
              <a:t>Hardware Image :</a:t>
            </a:r>
          </a:p>
        </p:txBody>
      </p:sp>
      <p:pic>
        <p:nvPicPr>
          <p:cNvPr id="4" name="Content Placeholder 3">
            <a:extLst>
              <a:ext uri="{FF2B5EF4-FFF2-40B4-BE49-F238E27FC236}">
                <a16:creationId xmlns:a16="http://schemas.microsoft.com/office/drawing/2014/main" id="{47BA1468-F055-F310-9850-AB8B542BBE38}"/>
              </a:ext>
            </a:extLst>
          </p:cNvPr>
          <p:cNvPicPr>
            <a:picLocks noGrp="1" noChangeAspect="1"/>
          </p:cNvPicPr>
          <p:nvPr>
            <p:ph idx="1"/>
          </p:nvPr>
        </p:nvPicPr>
        <p:blipFill>
          <a:blip r:embed="rId4"/>
          <a:stretch>
            <a:fillRect/>
          </a:stretch>
        </p:blipFill>
        <p:spPr>
          <a:xfrm>
            <a:off x="6936179" y="2010213"/>
            <a:ext cx="4970584" cy="3727938"/>
          </a:xfrm>
          <a:prstGeom prst="rect">
            <a:avLst/>
          </a:prstGeom>
        </p:spPr>
      </p:pic>
      <p:pic>
        <p:nvPicPr>
          <p:cNvPr id="5" name="WhatsApp Video 2026-04-23 at 22.47.14.mp4">
            <a:hlinkClick r:id="" action="ppaction://media"/>
            <a:extLst>
              <a:ext uri="{FF2B5EF4-FFF2-40B4-BE49-F238E27FC236}">
                <a16:creationId xmlns:a16="http://schemas.microsoft.com/office/drawing/2014/main" id="{2F25FFDA-7247-87D6-5A2E-BAE12EC2103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85237" y="2010214"/>
            <a:ext cx="6143698" cy="3641682"/>
          </a:xfrm>
          <a:prstGeom prst="rect">
            <a:avLst/>
          </a:prstGeom>
        </p:spPr>
      </p:pic>
    </p:spTree>
    <p:extLst>
      <p:ext uri="{BB962C8B-B14F-4D97-AF65-F5344CB8AC3E}">
        <p14:creationId xmlns:p14="http://schemas.microsoft.com/office/powerpoint/2010/main" val="103805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9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59091">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4D431671-5191-4947-8899-E90505A704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8" name="Straight Connector 57">
              <a:extLst>
                <a:ext uri="{FF2B5EF4-FFF2-40B4-BE49-F238E27FC236}">
                  <a16:creationId xmlns:a16="http://schemas.microsoft.com/office/drawing/2014/main" id="{877D2E98-ED65-4121-9DA5-6DBB831D0F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94A307-5B5D-4E42-95B3-064D5093AD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CB3B32C-3BDA-4D41-9802-681B0599FD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5BDBFD6-7C61-4520-8203-BAB1986C15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ABA4D7-9904-42C4-B0CD-B1CE2E0D37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63F0D6-8747-4126-9359-B730EB21B7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1CD660-F5B2-49AC-9EFC-CE94B843B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BEB7EB-8E7F-4A4B-8581-73CE2003F2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4FB70E-6820-4456-872A-937F520606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598DD6-9887-4CF7-BAFE-F96E0324EB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A503E64-565F-465B-A25C-042C5706C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40EE7B-5CA1-4DCB-8652-6E4D2147B0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5077BE-700D-4C44-AA4D-7CF4E8FD71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8B3FEB-D353-443D-A148-3915606516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1FF5FBB-3BD8-46EB-BDF9-081B29A444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2E11FD-78A4-4F5C-A419-F0237DCAD2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F708EBE-3154-4FF4-8E8F-88A0762080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7A99B5C-EB03-4D56-8DFE-B006D7081B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BAFF0-9FB4-4160-B9BE-CCBE1D8B8C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26953D7-154A-49A4-B2E1-D94D365EC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36E3E12-5D96-48DB-8320-6294287740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059482-79BA-4E80-80A2-36FD8408D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EF88B3-C210-433D-B20D-FE41B4D5F9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3665D3E-61E7-4EDF-A208-56449D765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74CF3B0-C9C3-4683-94A3-DC0AE1E745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BE90EF9-6DF5-47F4-A069-9F613C814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844EBDE-5A9F-4E9F-8A55-57FB9E9797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491FC45-82C4-40CD-8D0C-0A2F86E8A1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1AD0FE3-6144-4171-943E-0E65D08E80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BA4499-5E6A-4998-A0F4-614E65552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AFE7A6F-A7F0-4406-809F-E23FCB201E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363E651-EEC3-16DF-CA32-69182A43AD72}"/>
              </a:ext>
            </a:extLst>
          </p:cNvPr>
          <p:cNvSpPr>
            <a:spLocks noGrp="1"/>
          </p:cNvSpPr>
          <p:nvPr>
            <p:ph type="title"/>
          </p:nvPr>
        </p:nvSpPr>
        <p:spPr>
          <a:xfrm>
            <a:off x="691079" y="725951"/>
            <a:ext cx="4927425" cy="1938525"/>
          </a:xfrm>
        </p:spPr>
        <p:txBody>
          <a:bodyPr>
            <a:normAutofit/>
          </a:bodyPr>
          <a:lstStyle/>
          <a:p>
            <a:r>
              <a:rPr lang="en-US" dirty="0">
                <a:latin typeface="Times New Roman" panose="02020603050405020304" pitchFamily="18" charset="0"/>
                <a:cs typeface="Times New Roman" panose="02020603050405020304" pitchFamily="18" charset="0"/>
              </a:rPr>
              <a:t>Data Collection : </a:t>
            </a:r>
          </a:p>
        </p:txBody>
      </p:sp>
      <p:sp>
        <p:nvSpPr>
          <p:cNvPr id="44" name="Right Triangle 43">
            <a:extLst>
              <a:ext uri="{FF2B5EF4-FFF2-40B4-BE49-F238E27FC236}">
                <a16:creationId xmlns:a16="http://schemas.microsoft.com/office/drawing/2014/main" id="{BEAC0A80-07D3-49CB-87C3-BC34F219D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1" y="20640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DA4C3AAB-4996-32F8-BA90-021050081FE2}"/>
              </a:ext>
            </a:extLst>
          </p:cNvPr>
          <p:cNvSpPr>
            <a:spLocks noGrp="1"/>
          </p:cNvSpPr>
          <p:nvPr>
            <p:ph idx="1"/>
          </p:nvPr>
        </p:nvSpPr>
        <p:spPr>
          <a:xfrm>
            <a:off x="691079" y="2886116"/>
            <a:ext cx="4927425" cy="3245931"/>
          </a:xfrm>
        </p:spPr>
        <p:txBody>
          <a:bodyPr>
            <a:normAutofit/>
          </a:bodyPr>
          <a:lstStyle/>
          <a:p>
            <a:pPr algn="just">
              <a:lnSpc>
                <a:spcPct val="100000"/>
              </a:lnSpc>
            </a:pPr>
            <a:r>
              <a:rPr lang="en-IN" dirty="0">
                <a:latin typeface="Times New Roman" panose="02020603050405020304" pitchFamily="18" charset="0"/>
                <a:cs typeface="Times New Roman" panose="02020603050405020304" pitchFamily="18" charset="0"/>
              </a:rPr>
              <a:t>Motion data was collected using the MPU-6050 IMU sensor for five different gestures: Forward, Backward, Left, Right, and Still. A total of 125 samples were recorded, with 25 samples for each gesture. The data was captured at a sampling rate of 50 Hz, with each sample lasting about 2 seconds. All the collected data was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and processed using the Edge Impulse platform for training the model.</a:t>
            </a:r>
            <a:endParaRPr lang="en-US" dirty="0">
              <a:latin typeface="Times New Roman" panose="02020603050405020304" pitchFamily="18" charset="0"/>
              <a:cs typeface="Times New Roman" panose="02020603050405020304" pitchFamily="18" charset="0"/>
            </a:endParaRPr>
          </a:p>
        </p:txBody>
      </p:sp>
      <p:pic>
        <p:nvPicPr>
          <p:cNvPr id="5" name="Picture 4" descr="A finger pointing on a tablet with green neon lights">
            <a:extLst>
              <a:ext uri="{FF2B5EF4-FFF2-40B4-BE49-F238E27FC236}">
                <a16:creationId xmlns:a16="http://schemas.microsoft.com/office/drawing/2014/main" id="{2B22073F-4466-1993-4132-73D9D0F1A8F9}"/>
              </a:ext>
            </a:extLst>
          </p:cNvPr>
          <p:cNvPicPr>
            <a:picLocks noChangeAspect="1"/>
          </p:cNvPicPr>
          <p:nvPr/>
        </p:nvPicPr>
        <p:blipFill>
          <a:blip r:embed="rId2"/>
          <a:srcRect l="9637" r="32979" b="-1"/>
          <a:stretch>
            <a:fillRect/>
          </a:stretch>
        </p:blipFill>
        <p:spPr>
          <a:xfrm>
            <a:off x="6309311" y="1"/>
            <a:ext cx="5899302" cy="6862230"/>
          </a:xfrm>
          <a:custGeom>
            <a:avLst/>
            <a:gdLst/>
            <a:ahLst/>
            <a:cxnLst/>
            <a:rect l="l" t="t" r="r" b="b"/>
            <a:pathLst>
              <a:path w="5923149" h="6857997">
                <a:moveTo>
                  <a:pt x="320173" y="0"/>
                </a:moveTo>
                <a:lnTo>
                  <a:pt x="5923149" y="0"/>
                </a:lnTo>
                <a:lnTo>
                  <a:pt x="5923149" y="6857997"/>
                </a:lnTo>
                <a:lnTo>
                  <a:pt x="1111789" y="6857997"/>
                </a:lnTo>
                <a:lnTo>
                  <a:pt x="1106562" y="6546368"/>
                </a:lnTo>
                <a:cubicBezTo>
                  <a:pt x="1000021" y="3425651"/>
                  <a:pt x="-688878" y="3321843"/>
                  <a:pt x="320173" y="0"/>
                </a:cubicBezTo>
                <a:close/>
              </a:path>
            </a:pathLst>
          </a:custGeom>
        </p:spPr>
      </p:pic>
    </p:spTree>
    <p:extLst>
      <p:ext uri="{BB962C8B-B14F-4D97-AF65-F5344CB8AC3E}">
        <p14:creationId xmlns:p14="http://schemas.microsoft.com/office/powerpoint/2010/main" val="3137077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71AF-ACC8-F6CD-B9E6-E713E31B36F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Tiny Machine Learning Overview : </a:t>
            </a:r>
          </a:p>
        </p:txBody>
      </p:sp>
      <p:sp>
        <p:nvSpPr>
          <p:cNvPr id="3" name="Content Placeholder 2">
            <a:extLst>
              <a:ext uri="{FF2B5EF4-FFF2-40B4-BE49-F238E27FC236}">
                <a16:creationId xmlns:a16="http://schemas.microsoft.com/office/drawing/2014/main" id="{F505290A-17DE-40D6-2A46-6038A563AA39}"/>
              </a:ext>
            </a:extLst>
          </p:cNvPr>
          <p:cNvSpPr>
            <a:spLocks noGrp="1"/>
          </p:cNvSpPr>
          <p:nvPr>
            <p:ph idx="1"/>
          </p:nvPr>
        </p:nvSpPr>
        <p:spPr/>
        <p:txBody>
          <a:bodyPr/>
          <a:lstStyle/>
          <a:p>
            <a:pPr algn="just"/>
            <a:r>
              <a:rPr lang="en-IN" sz="2400" dirty="0" err="1">
                <a:latin typeface="Times New Roman" panose="02020603050405020304" pitchFamily="18" charset="0"/>
                <a:cs typeface="Times New Roman" panose="02020603050405020304" pitchFamily="18" charset="0"/>
              </a:rPr>
              <a:t>TinyML</a:t>
            </a:r>
            <a:r>
              <a:rPr lang="en-IN" sz="2400" dirty="0">
                <a:latin typeface="Times New Roman" panose="02020603050405020304" pitchFamily="18" charset="0"/>
                <a:cs typeface="Times New Roman" panose="02020603050405020304" pitchFamily="18" charset="0"/>
              </a:rPr>
              <a:t> refers to the deployment of machine learning models on low-power microcontrollers, enabling real-time data processing without the need for cloud connectivity. It allows devices to perform intelligent tasks locally with minimal power consumption and fast response time. In this project, </a:t>
            </a:r>
            <a:r>
              <a:rPr lang="en-IN" sz="2400" dirty="0" err="1">
                <a:latin typeface="Times New Roman" panose="02020603050405020304" pitchFamily="18" charset="0"/>
                <a:cs typeface="Times New Roman" panose="02020603050405020304" pitchFamily="18" charset="0"/>
              </a:rPr>
              <a:t>TinyML</a:t>
            </a:r>
            <a:r>
              <a:rPr lang="en-IN" sz="2400" dirty="0">
                <a:latin typeface="Times New Roman" panose="02020603050405020304" pitchFamily="18" charset="0"/>
                <a:cs typeface="Times New Roman" panose="02020603050405020304" pitchFamily="18" charset="0"/>
              </a:rPr>
              <a:t> is used to recognize hand gestures on the ESP32 using a quantized model, making the system efficient, low-cost, and suitable for embedded applications.</a:t>
            </a:r>
          </a:p>
          <a:p>
            <a:endParaRPr lang="en-US" dirty="0"/>
          </a:p>
        </p:txBody>
      </p:sp>
    </p:spTree>
    <p:extLst>
      <p:ext uri="{BB962C8B-B14F-4D97-AF65-F5344CB8AC3E}">
        <p14:creationId xmlns:p14="http://schemas.microsoft.com/office/powerpoint/2010/main" val="6107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16AE968-8240-0B9D-3E0D-38759E5B8E58}"/>
              </a:ext>
            </a:extLst>
          </p:cNvPr>
          <p:cNvSpPr>
            <a:spLocks noGrp="1"/>
          </p:cNvSpPr>
          <p:nvPr>
            <p:ph type="title"/>
          </p:nvPr>
        </p:nvSpPr>
        <p:spPr>
          <a:xfrm>
            <a:off x="691079" y="725952"/>
            <a:ext cx="4038652" cy="1881178"/>
          </a:xfrm>
        </p:spPr>
        <p:txBody>
          <a:bodyPr>
            <a:normAutofit/>
          </a:bodyPr>
          <a:lstStyle/>
          <a:p>
            <a:r>
              <a:rPr lang="en-US" dirty="0">
                <a:latin typeface="Times New Roman" panose="02020603050405020304" pitchFamily="18" charset="0"/>
                <a:cs typeface="Times New Roman" panose="02020603050405020304" pitchFamily="18" charset="0"/>
              </a:rPr>
              <a:t>Model Training:</a:t>
            </a:r>
          </a:p>
        </p:txBody>
      </p:sp>
      <p:sp>
        <p:nvSpPr>
          <p:cNvPr id="3" name="Content Placeholder 2">
            <a:extLst>
              <a:ext uri="{FF2B5EF4-FFF2-40B4-BE49-F238E27FC236}">
                <a16:creationId xmlns:a16="http://schemas.microsoft.com/office/drawing/2014/main" id="{A4CB154D-334A-5461-47AF-AB34EF9256E1}"/>
              </a:ext>
            </a:extLst>
          </p:cNvPr>
          <p:cNvSpPr>
            <a:spLocks noGrp="1"/>
          </p:cNvSpPr>
          <p:nvPr>
            <p:ph idx="1"/>
          </p:nvPr>
        </p:nvSpPr>
        <p:spPr>
          <a:xfrm>
            <a:off x="691079" y="2886117"/>
            <a:ext cx="4038652" cy="3276824"/>
          </a:xfrm>
        </p:spPr>
        <p:txBody>
          <a:bodyPr>
            <a:normAutofit fontScale="92500"/>
          </a:bodyPr>
          <a:lstStyle/>
          <a:p>
            <a:pPr algn="just">
              <a:lnSpc>
                <a:spcPct val="100000"/>
              </a:lnSpc>
            </a:pPr>
            <a:r>
              <a:rPr lang="en-IN" sz="1800" dirty="0">
                <a:latin typeface="Times New Roman" panose="02020603050405020304" pitchFamily="18" charset="0"/>
                <a:cs typeface="Times New Roman" panose="02020603050405020304" pitchFamily="18" charset="0"/>
              </a:rPr>
              <a:t>The model was trained using the Edge Impulse platform with the collected gesture data. First, spectral features were extracted from the raw IMU data using FFT to improve classification accuracy. A neural network classifier was then trained on these features to recognize five gesture classes. The model was optimized using quantization (int8) for deployment on the ESP32 and achieved a high accuracy of 97.8% with reliable real-time performance.</a:t>
            </a:r>
          </a:p>
          <a:p>
            <a:pPr>
              <a:lnSpc>
                <a:spcPct val="100000"/>
              </a:lnSpc>
            </a:pPr>
            <a:endParaRPr lang="en-US" sz="1700" dirty="0"/>
          </a:p>
        </p:txBody>
      </p:sp>
      <p:pic>
        <p:nvPicPr>
          <p:cNvPr id="5" name="Picture 4">
            <a:extLst>
              <a:ext uri="{FF2B5EF4-FFF2-40B4-BE49-F238E27FC236}">
                <a16:creationId xmlns:a16="http://schemas.microsoft.com/office/drawing/2014/main" id="{E312ED85-542F-30F1-0D45-BC23ACDB7314}"/>
              </a:ext>
            </a:extLst>
          </p:cNvPr>
          <p:cNvPicPr>
            <a:picLocks noChangeAspect="1"/>
          </p:cNvPicPr>
          <p:nvPr/>
        </p:nvPicPr>
        <p:blipFill>
          <a:blip r:embed="rId2"/>
          <a:stretch>
            <a:fillRect/>
          </a:stretch>
        </p:blipFill>
        <p:spPr>
          <a:xfrm>
            <a:off x="5221427" y="2274066"/>
            <a:ext cx="6401443" cy="3888875"/>
          </a:xfrm>
          <a:prstGeom prst="rect">
            <a:avLst/>
          </a:prstGeom>
        </p:spPr>
      </p:pic>
    </p:spTree>
    <p:extLst>
      <p:ext uri="{BB962C8B-B14F-4D97-AF65-F5344CB8AC3E}">
        <p14:creationId xmlns:p14="http://schemas.microsoft.com/office/powerpoint/2010/main" val="2496212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2C50-39B4-25DC-5164-F2BCEEF3F1D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t>
            </a:r>
          </a:p>
        </p:txBody>
      </p:sp>
      <p:sp>
        <p:nvSpPr>
          <p:cNvPr id="3" name="Content Placeholder 2">
            <a:extLst>
              <a:ext uri="{FF2B5EF4-FFF2-40B4-BE49-F238E27FC236}">
                <a16:creationId xmlns:a16="http://schemas.microsoft.com/office/drawing/2014/main" id="{598AB296-3252-36FE-D3E1-70A0AB1B937F}"/>
              </a:ext>
            </a:extLst>
          </p:cNvPr>
          <p:cNvSpPr>
            <a:spLocks noGrp="1"/>
          </p:cNvSpPr>
          <p:nvPr>
            <p:ph idx="1"/>
          </p:nvPr>
        </p:nvSpPr>
        <p:spPr/>
        <p:txBody>
          <a:bodyPr/>
          <a:lstStyle/>
          <a:p>
            <a:pPr algn="just"/>
            <a:r>
              <a:rPr lang="en-IN" sz="2400" dirty="0">
                <a:latin typeface="Times New Roman" panose="02020603050405020304" pitchFamily="18" charset="0"/>
                <a:cs typeface="Times New Roman" panose="02020603050405020304" pitchFamily="18" charset="0"/>
              </a:rPr>
              <a:t>The trained </a:t>
            </a:r>
            <a:r>
              <a:rPr lang="en-IN" sz="2400" dirty="0" err="1">
                <a:latin typeface="Times New Roman" panose="02020603050405020304" pitchFamily="18" charset="0"/>
                <a:cs typeface="Times New Roman" panose="02020603050405020304" pitchFamily="18" charset="0"/>
              </a:rPr>
              <a:t>TinyML</a:t>
            </a:r>
            <a:r>
              <a:rPr lang="en-IN" sz="2400" dirty="0">
                <a:latin typeface="Times New Roman" panose="02020603050405020304" pitchFamily="18" charset="0"/>
                <a:cs typeface="Times New Roman" panose="02020603050405020304" pitchFamily="18" charset="0"/>
              </a:rPr>
              <a:t> model achieved a high accuracy of 97.8% in classifying five hand gestures with low loss and strong reliability. The system successfully performs real-time gesture recognition on the ESP32 without any cloud support. The robot responds quickly and accurately to user gestures, demonstrating smooth movement and effective wireless communication between transmitter and receiver.</a:t>
            </a:r>
          </a:p>
          <a:p>
            <a:endParaRPr lang="en-US" dirty="0"/>
          </a:p>
        </p:txBody>
      </p:sp>
    </p:spTree>
    <p:extLst>
      <p:ext uri="{BB962C8B-B14F-4D97-AF65-F5344CB8AC3E}">
        <p14:creationId xmlns:p14="http://schemas.microsoft.com/office/powerpoint/2010/main" val="802586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10E0-E2E6-309A-8056-2A0924B4E09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 : </a:t>
            </a:r>
          </a:p>
        </p:txBody>
      </p:sp>
      <p:sp>
        <p:nvSpPr>
          <p:cNvPr id="3" name="Content Placeholder 2">
            <a:extLst>
              <a:ext uri="{FF2B5EF4-FFF2-40B4-BE49-F238E27FC236}">
                <a16:creationId xmlns:a16="http://schemas.microsoft.com/office/drawing/2014/main" id="{044C1751-7DCD-67F1-03C0-99418BBB9B7B}"/>
              </a:ext>
            </a:extLst>
          </p:cNvPr>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This project successfully demonstrates a </a:t>
            </a:r>
            <a:r>
              <a:rPr lang="en-IN" dirty="0" err="1">
                <a:latin typeface="Times New Roman" panose="02020603050405020304" pitchFamily="18" charset="0"/>
                <a:cs typeface="Times New Roman" panose="02020603050405020304" pitchFamily="18" charset="0"/>
              </a:rPr>
              <a:t>TinyML</a:t>
            </a:r>
            <a:r>
              <a:rPr lang="en-IN" dirty="0">
                <a:latin typeface="Times New Roman" panose="02020603050405020304" pitchFamily="18" charset="0"/>
                <a:cs typeface="Times New Roman" panose="02020603050405020304" pitchFamily="18" charset="0"/>
              </a:rPr>
              <a:t>-based hand gesture-controlled robot capable of real-time, controller-free operation using on-device machine learning. The system achieves high accuracy, low latency, and efficient wireless communication, making it a practical and low-cost solution for intuitive human-robot interaction. In the future, the system can be enhanced by adding more gesture commands, improving model accuracy with larger datasets, using long-range communication technologies like LoRa, optimizing power consumption, and integrating advanced displays or sensors for better functionality and user experience</a:t>
            </a:r>
            <a:r>
              <a:rPr lang="en-IN" dirty="0"/>
              <a:t>.</a:t>
            </a:r>
            <a:endParaRPr lang="en-US" dirty="0"/>
          </a:p>
        </p:txBody>
      </p:sp>
    </p:spTree>
    <p:extLst>
      <p:ext uri="{BB962C8B-B14F-4D97-AF65-F5344CB8AC3E}">
        <p14:creationId xmlns:p14="http://schemas.microsoft.com/office/powerpoint/2010/main" val="2999800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2" name="Group 121">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1" name="Straight Connector 50">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23" name="Right Triangle 122">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4" name="Rectangle 123">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5" name="Group 124">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8" name="Straight Connector 87">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26" name="Right Triangle 125">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9641C14-3911-C855-599A-1249B453118D}"/>
              </a:ext>
            </a:extLst>
          </p:cNvPr>
          <p:cNvSpPr>
            <a:spLocks noGrp="1"/>
          </p:cNvSpPr>
          <p:nvPr>
            <p:ph type="title"/>
          </p:nvPr>
        </p:nvSpPr>
        <p:spPr>
          <a:xfrm>
            <a:off x="1169071" y="1798802"/>
            <a:ext cx="9821130" cy="914044"/>
          </a:xfrm>
        </p:spPr>
        <p:txBody>
          <a:bodyPr vert="horz" lIns="91440" tIns="45720" rIns="91440" bIns="45720" rtlCol="0" anchor="b">
            <a:normAutofit fontScale="90000"/>
          </a:bodyPr>
          <a:lstStyle/>
          <a:p>
            <a:pPr algn="ctr"/>
            <a:r>
              <a:rPr lang="en-US" sz="5400" dirty="0">
                <a:latin typeface="Times New Roman" panose="02020603050405020304" pitchFamily="18" charset="0"/>
                <a:cs typeface="Times New Roman" panose="02020603050405020304" pitchFamily="18" charset="0"/>
              </a:rPr>
              <a:t>Thank you</a:t>
            </a:r>
          </a:p>
        </p:txBody>
      </p:sp>
      <p:pic>
        <p:nvPicPr>
          <p:cNvPr id="7" name="Graphic 6" descr="Smiling Face with No Fill">
            <a:extLst>
              <a:ext uri="{FF2B5EF4-FFF2-40B4-BE49-F238E27FC236}">
                <a16:creationId xmlns:a16="http://schemas.microsoft.com/office/drawing/2014/main" id="{52DE2DC0-46A1-7D5F-1737-01554AA0DF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64223" y="2884564"/>
            <a:ext cx="3257291" cy="3257291"/>
          </a:xfrm>
          <a:prstGeom prst="rect">
            <a:avLst/>
          </a:prstGeom>
        </p:spPr>
      </p:pic>
    </p:spTree>
    <p:extLst>
      <p:ext uri="{BB962C8B-B14F-4D97-AF65-F5344CB8AC3E}">
        <p14:creationId xmlns:p14="http://schemas.microsoft.com/office/powerpoint/2010/main" val="2474766108"/>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47</TotalTime>
  <Words>874</Words>
  <Application>Microsoft Macintosh PowerPoint</Application>
  <PresentationFormat>Widescreen</PresentationFormat>
  <Paragraphs>41</Paragraphs>
  <Slides>15</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Grandview</vt:lpstr>
      <vt:lpstr>Times New Roman</vt:lpstr>
      <vt:lpstr>Wingdings</vt:lpstr>
      <vt:lpstr>CosineVTI</vt:lpstr>
      <vt:lpstr>TinyML-Based Hand Gesture Control Robot</vt:lpstr>
      <vt:lpstr>Abstract : </vt:lpstr>
      <vt:lpstr>Motivation :</vt:lpstr>
      <vt:lpstr>Problem Statement : </vt:lpstr>
      <vt:lpstr>Block Diagram</vt:lpstr>
      <vt:lpstr>Circuit Diagram : </vt:lpstr>
      <vt:lpstr>Reciever Circuit : </vt:lpstr>
      <vt:lpstr>Hardware Components : </vt:lpstr>
      <vt:lpstr>Hardware Image :</vt:lpstr>
      <vt:lpstr>Data Collection : </vt:lpstr>
      <vt:lpstr>Tiny Machine Learning Overview : </vt:lpstr>
      <vt:lpstr>Model Training:</vt:lpstr>
      <vt:lpstr>Result :</vt:lpstr>
      <vt:lpstr>Conclusion :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JAMKHANAM LATHIEF HUSSAIN JAMKHANAM IMAM SAHEB (RA2311005010058)</dc:creator>
  <cp:lastModifiedBy>JAMKHANAM LATHIEF HUSSAIN JAMKHANAM IMAM SAHEB (RA2311005010058)</cp:lastModifiedBy>
  <cp:revision>1</cp:revision>
  <dcterms:created xsi:type="dcterms:W3CDTF">2026-05-02T10:13:55Z</dcterms:created>
  <dcterms:modified xsi:type="dcterms:W3CDTF">2026-05-02T11:01:34Z</dcterms:modified>
</cp:coreProperties>
</file>